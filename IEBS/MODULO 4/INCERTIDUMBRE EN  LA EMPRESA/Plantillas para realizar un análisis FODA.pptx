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Lora SemiBold" panose="020B0604020202020204" charset="0"/>
      <p:regular r:id="rId19"/>
      <p:bold r:id="rId20"/>
      <p:italic r:id="rId21"/>
      <p:boldItalic r:id="rId22"/>
    </p:embeddedFont>
    <p:embeddedFont>
      <p:font typeface="Montserrat" panose="00000500000000000000" pitchFamily="2" charset="0"/>
      <p:regular r:id="rId23"/>
      <p:bold r:id="rId24"/>
      <p:italic r:id="rId25"/>
      <p:boldItalic r:id="rId26"/>
    </p:embeddedFont>
    <p:embeddedFont>
      <p:font typeface="Montserrat SemiBold" panose="00000700000000000000" pitchFamily="2" charset="0"/>
      <p:regular r:id="rId27"/>
      <p:bold r:id="rId28"/>
      <p:italic r:id="rId29"/>
      <p:boldItalic r:id="rId30"/>
    </p:embeddedFont>
    <p:embeddedFont>
      <p:font typeface="Poppins" panose="00000500000000000000" pitchFamily="2" charset="0"/>
      <p:regular r:id="rId31"/>
      <p:bold r:id="rId32"/>
      <p:italic r:id="rId33"/>
      <p:boldItalic r:id="rId34"/>
    </p:embeddedFont>
    <p:embeddedFont>
      <p:font typeface="Poppins ExtraBold" panose="00000900000000000000" pitchFamily="2" charset="0"/>
      <p:bold r:id="rId35"/>
      <p:boldItalic r:id="rId36"/>
    </p:embeddedFont>
    <p:embeddedFont>
      <p:font typeface="Poppins Light" panose="00000400000000000000" pitchFamily="2" charset="0"/>
      <p:regular r:id="rId37"/>
      <p:bold r:id="rId38"/>
      <p:italic r:id="rId39"/>
      <p:boldItalic r:id="rId40"/>
    </p:embeddedFont>
    <p:embeddedFont>
      <p:font typeface="Poppins Medium" panose="00000600000000000000" pitchFamily="2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760">
          <p15:clr>
            <a:srgbClr val="9AA0A6"/>
          </p15:clr>
        </p15:guide>
        <p15:guide id="2" pos="624">
          <p15:clr>
            <a:srgbClr val="9AA0A6"/>
          </p15:clr>
        </p15:guide>
        <p15:guide id="3" orient="horz" pos="162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1020" y="84"/>
      </p:cViewPr>
      <p:guideLst>
        <p:guide pos="5760"/>
        <p:guide pos="624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font" Target="fonts/font21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font" Target="fonts/font24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font" Target="fonts/font22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4" Type="http://schemas.openxmlformats.org/officeDocument/2006/relationships/font" Target="fonts/font2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43" Type="http://schemas.openxmlformats.org/officeDocument/2006/relationships/font" Target="fonts/font25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Relationship Id="rId46" Type="http://schemas.openxmlformats.org/officeDocument/2006/relationships/viewProps" Target="viewProps.xml"/><Relationship Id="rId20" Type="http://schemas.openxmlformats.org/officeDocument/2006/relationships/font" Target="fonts/font2.fntdata"/><Relationship Id="rId41" Type="http://schemas.openxmlformats.org/officeDocument/2006/relationships/font" Target="fonts/font2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0760130d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0760130d6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760130d60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0760130d60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0760130d60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0760130d60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0760130d60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0760130d60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0760130d60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0760130d60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hubspot.es/marketing/analisis-foda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og.hubspot.es/marketing/foda-personal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DA5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3720300"/>
            <a:ext cx="8520600" cy="7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650" b="1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Plantillas para realizar un análisis FODA</a:t>
            </a:r>
            <a:endParaRPr sz="7700" b="1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4400" y="3282575"/>
            <a:ext cx="833025" cy="32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 rotWithShape="1">
          <a:blip r:embed="rId4">
            <a:alphaModFix/>
          </a:blip>
          <a:srcRect t="19933" b="2684"/>
          <a:stretch/>
        </p:blipFill>
        <p:spPr>
          <a:xfrm flipH="1">
            <a:off x="482999" y="477175"/>
            <a:ext cx="6980401" cy="2482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5">
            <a:alphaModFix/>
          </a:blip>
          <a:srcRect r="36808" b="50713"/>
          <a:stretch/>
        </p:blipFill>
        <p:spPr>
          <a:xfrm rot="10020001">
            <a:off x="6517231" y="-508963"/>
            <a:ext cx="3629033" cy="400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5">
            <a:alphaModFix/>
          </a:blip>
          <a:srcRect t="53453" r="39533" b="2917"/>
          <a:stretch/>
        </p:blipFill>
        <p:spPr>
          <a:xfrm>
            <a:off x="6010150" y="1470525"/>
            <a:ext cx="2044357" cy="207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311700" y="13573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5000" b="1">
                <a:solidFill>
                  <a:srgbClr val="33475B"/>
                </a:solidFill>
                <a:latin typeface="Avenir"/>
                <a:ea typeface="Avenir"/>
                <a:cs typeface="Avenir"/>
                <a:sym typeface="Avenir"/>
              </a:rPr>
              <a:t>Tabla de contenidos</a:t>
            </a:r>
            <a:endParaRPr sz="5000" b="1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311700" y="2419350"/>
            <a:ext cx="82989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b="1">
                <a:solidFill>
                  <a:srgbClr val="33475B"/>
                </a:solidFill>
                <a:latin typeface="Avenir"/>
                <a:ea typeface="Avenir"/>
                <a:cs typeface="Avenir"/>
                <a:sym typeface="Avenir"/>
              </a:rPr>
              <a:t>Instrucciones</a:t>
            </a:r>
            <a:endParaRPr b="1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s" b="1">
                <a:solidFill>
                  <a:srgbClr val="33475B"/>
                </a:solidFill>
                <a:latin typeface="Avenir"/>
                <a:ea typeface="Avenir"/>
                <a:cs typeface="Avenir"/>
                <a:sym typeface="Avenir"/>
              </a:rPr>
              <a:t>Plantillas FODA de análisis para empresas</a:t>
            </a:r>
            <a:endParaRPr b="1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s" b="1">
                <a:solidFill>
                  <a:srgbClr val="33475B"/>
                </a:solidFill>
                <a:latin typeface="Avenir"/>
                <a:ea typeface="Avenir"/>
                <a:cs typeface="Avenir"/>
                <a:sym typeface="Avenir"/>
              </a:rPr>
              <a:t>Plantillas FODA de análisis personal</a:t>
            </a:r>
            <a:endParaRPr b="1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76338" y="-4264800"/>
            <a:ext cx="4993201" cy="7045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b="1">
                <a:latin typeface="Avenir"/>
                <a:ea typeface="Avenir"/>
                <a:cs typeface="Avenir"/>
                <a:sym typeface="Avenir"/>
              </a:rPr>
              <a:t>Instrucciones</a:t>
            </a:r>
            <a:endParaRPr b="1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7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1600">
                <a:latin typeface="Avenir"/>
                <a:ea typeface="Avenir"/>
                <a:cs typeface="Avenir"/>
                <a:sym typeface="Avenir"/>
              </a:rPr>
              <a:t>El </a:t>
            </a:r>
            <a:r>
              <a:rPr lang="es" sz="1600" u="sng">
                <a:solidFill>
                  <a:schemeClr val="hlink"/>
                </a:solidFill>
                <a:latin typeface="Avenir"/>
                <a:ea typeface="Avenir"/>
                <a:cs typeface="Avenir"/>
                <a:sym typeface="Avenir"/>
                <a:hlinkClick r:id="rId3"/>
              </a:rPr>
              <a:t>análisis FODA,</a:t>
            </a:r>
            <a:r>
              <a:rPr lang="es" sz="1600">
                <a:latin typeface="Avenir"/>
                <a:ea typeface="Avenir"/>
                <a:cs typeface="Avenir"/>
                <a:sym typeface="Avenir"/>
              </a:rPr>
              <a:t> acrónimo de fortalezas, oportunidades, debilidades y amenazas, distingue los elementos positivos y negativos en cualquier aspecto empresarial. Esta herramienta es muy útil para el proceso de toma de decisión, pues revela los pros y contras de los factores examinados.</a:t>
            </a:r>
            <a:endParaRPr sz="16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s" sz="1600">
                <a:latin typeface="Avenir"/>
                <a:ea typeface="Avenir"/>
                <a:cs typeface="Avenir"/>
                <a:sym typeface="Avenir"/>
              </a:rPr>
              <a:t>Únicamente identifica cada componente dentro de las categorías de este ejercicio y comprenderás a detalle las facetas de tu empresa. También puedes aplicar este estudio como un </a:t>
            </a:r>
            <a:r>
              <a:rPr lang="es" sz="1600" u="sng">
                <a:solidFill>
                  <a:schemeClr val="hlink"/>
                </a:solidFill>
                <a:latin typeface="Avenir"/>
                <a:ea typeface="Avenir"/>
                <a:cs typeface="Avenir"/>
                <a:sym typeface="Avenir"/>
                <a:hlinkClick r:id="rId4"/>
              </a:rPr>
              <a:t>FODA personal</a:t>
            </a:r>
            <a:r>
              <a:rPr lang="es" sz="1600">
                <a:latin typeface="Avenir"/>
                <a:ea typeface="Avenir"/>
                <a:cs typeface="Avenir"/>
                <a:sym typeface="Avenir"/>
              </a:rPr>
              <a:t> con el mismo criterio.</a:t>
            </a:r>
            <a:endParaRPr sz="16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s" sz="1600">
                <a:latin typeface="Avenir"/>
                <a:ea typeface="Avenir"/>
                <a:cs typeface="Avenir"/>
                <a:sym typeface="Avenir"/>
              </a:rPr>
              <a:t>Estas plantillas están diseñadas para cubrir este propósito. Si quieres realizar el análisis a una empresa o hacerlo con un enfoque individual, selecciona el formato alternativo que más te guste y completa la información con tus propios datos. Mucha suerte.</a:t>
            </a:r>
            <a:endParaRPr sz="16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417600" y="1017725"/>
            <a:ext cx="476400" cy="57300"/>
          </a:xfrm>
          <a:prstGeom prst="rect">
            <a:avLst/>
          </a:prstGeom>
          <a:solidFill>
            <a:srgbClr val="FF7A5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DA5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1695450" y="1723950"/>
            <a:ext cx="5753100" cy="18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4300" b="1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FODA</a:t>
            </a:r>
            <a:endParaRPr sz="43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/>
          <p:nvPr/>
        </p:nvSpPr>
        <p:spPr>
          <a:xfrm>
            <a:off x="3100350" y="1273875"/>
            <a:ext cx="2943300" cy="2781300"/>
          </a:xfrm>
          <a:prstGeom prst="mathPlus">
            <a:avLst>
              <a:gd name="adj1" fmla="val 4109"/>
            </a:avLst>
          </a:prstGeom>
          <a:solidFill>
            <a:srgbClr val="FF7A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762000" y="473775"/>
            <a:ext cx="3543300" cy="21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1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Fortalezas</a:t>
            </a:r>
            <a:endParaRPr sz="1600" b="1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0" i="0" u="none" strike="noStrike" cap="none">
                <a:solidFill>
                  <a:srgbClr val="33475B"/>
                </a:solidFill>
                <a:latin typeface="Avenir"/>
                <a:ea typeface="Avenir"/>
                <a:cs typeface="Avenir"/>
                <a:sym typeface="Avenir"/>
              </a:rPr>
              <a:t>Las fortalezas son los atributos que te describen mejor. Los factores positivos ayudarán a crear oportunidades y tener una ventaja competitiva.</a:t>
            </a:r>
            <a:endParaRPr sz="16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762000" y="2835975"/>
            <a:ext cx="3886200" cy="21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Oportunidades</a:t>
            </a:r>
            <a:endParaRPr sz="1600" b="1" i="0" u="none" strike="noStrike" cap="non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0" i="0" u="none" strike="noStrike" cap="none">
                <a:solidFill>
                  <a:srgbClr val="33475B"/>
                </a:solidFill>
                <a:latin typeface="Avenir"/>
                <a:ea typeface="Avenir"/>
                <a:cs typeface="Avenir"/>
                <a:sym typeface="Avenir"/>
              </a:rPr>
              <a:t>Las oportunidades son todos los factores externos que puedes aprovechar para tu beneficio.</a:t>
            </a:r>
            <a:endParaRPr sz="16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5183900" y="473775"/>
            <a:ext cx="3636300" cy="21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Debilidades</a:t>
            </a:r>
            <a:endParaRPr sz="1600" b="1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0" i="0" u="none" strike="noStrike" cap="none">
                <a:solidFill>
                  <a:srgbClr val="33475B"/>
                </a:solidFill>
                <a:latin typeface="Avenir"/>
                <a:ea typeface="Avenir"/>
                <a:cs typeface="Avenir"/>
                <a:sym typeface="Avenir"/>
              </a:rPr>
              <a:t>Las debilidades son los puntos débiles o negativos. Es importante que seas sincero para conocer todos los aspectos que podrían influir en tu reputación.</a:t>
            </a:r>
            <a:endParaRPr sz="16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5276850" y="2835975"/>
            <a:ext cx="3543300" cy="21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Amenazas</a:t>
            </a:r>
            <a:endParaRPr sz="1600" b="1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0" i="0" u="none" strike="noStrike" cap="none">
                <a:solidFill>
                  <a:srgbClr val="33475B"/>
                </a:solidFill>
                <a:latin typeface="Avenir"/>
                <a:ea typeface="Avenir"/>
                <a:cs typeface="Avenir"/>
                <a:sym typeface="Avenir"/>
              </a:rPr>
              <a:t>Al igual que las oportunidades, este elemento también es externo e incluye los aspectos que pueden detener el crecimiento.</a:t>
            </a:r>
            <a:endParaRPr sz="16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body" idx="4294967295"/>
          </p:nvPr>
        </p:nvSpPr>
        <p:spPr>
          <a:xfrm>
            <a:off x="1695450" y="-35475"/>
            <a:ext cx="5753100" cy="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s" sz="4300" b="1">
                <a:solidFill>
                  <a:srgbClr val="33475B"/>
                </a:solidFill>
                <a:latin typeface="Avenir"/>
                <a:ea typeface="Avenir"/>
                <a:cs typeface="Avenir"/>
                <a:sym typeface="Avenir"/>
              </a:rPr>
              <a:t>FODA</a:t>
            </a:r>
            <a:endParaRPr sz="4300" b="1">
              <a:solidFill>
                <a:srgbClr val="33475B"/>
              </a:solidFill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 rotWithShape="1">
          <a:blip r:embed="rId3">
            <a:alphaModFix/>
          </a:blip>
          <a:srcRect t="6295" b="54814"/>
          <a:stretch/>
        </p:blipFill>
        <p:spPr>
          <a:xfrm rot="10800000">
            <a:off x="6196050" y="4402125"/>
            <a:ext cx="3636250" cy="2000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DA5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body" idx="1"/>
          </p:nvPr>
        </p:nvSpPr>
        <p:spPr>
          <a:xfrm>
            <a:off x="1695450" y="1647750"/>
            <a:ext cx="5753100" cy="18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s" sz="4300" b="1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Plantillas FODA de análisis para empresas</a:t>
            </a:r>
            <a:endParaRPr sz="43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4" y="0"/>
            <a:ext cx="913607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 txBox="1"/>
          <p:nvPr/>
        </p:nvSpPr>
        <p:spPr>
          <a:xfrm>
            <a:off x="922200" y="252950"/>
            <a:ext cx="7299600" cy="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Nombre personal o nombre de tu empresa </a:t>
            </a:r>
            <a:endParaRPr sz="2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3222100" y="1037713"/>
            <a:ext cx="714900" cy="11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1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F</a:t>
            </a:r>
            <a:endParaRPr sz="61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2868850" y="1812194"/>
            <a:ext cx="142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FORTALEZAS</a:t>
            </a:r>
            <a:endParaRPr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5193900" y="1037713"/>
            <a:ext cx="714900" cy="11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1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O</a:t>
            </a:r>
            <a:endParaRPr sz="61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4720200" y="1812194"/>
            <a:ext cx="1662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OPORTUNIDADES</a:t>
            </a:r>
            <a:endParaRPr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3222100" y="2953238"/>
            <a:ext cx="714900" cy="11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1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D</a:t>
            </a:r>
            <a:endParaRPr sz="61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2868850" y="3764719"/>
            <a:ext cx="142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DEBILIDADES</a:t>
            </a:r>
            <a:endParaRPr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5193900" y="2953238"/>
            <a:ext cx="714900" cy="11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1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</a:t>
            </a:r>
            <a:endParaRPr sz="61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4720200" y="3764719"/>
            <a:ext cx="1662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AMENAZAS</a:t>
            </a:r>
            <a:endParaRPr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9988" y="2151072"/>
            <a:ext cx="379124" cy="448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7129" y="2146500"/>
            <a:ext cx="302217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97462" y="4124581"/>
            <a:ext cx="764177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98831" y="4105346"/>
            <a:ext cx="505037" cy="44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796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 txBox="1"/>
          <p:nvPr/>
        </p:nvSpPr>
        <p:spPr>
          <a:xfrm>
            <a:off x="465450" y="0"/>
            <a:ext cx="57594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endParaRPr sz="76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304925" y="1309363"/>
            <a:ext cx="7149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endParaRPr sz="76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304925" y="2571738"/>
            <a:ext cx="7149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endParaRPr sz="76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304925" y="3868413"/>
            <a:ext cx="7149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sz="76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7396025" y="507900"/>
            <a:ext cx="12888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Tu</a:t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Logo</a:t>
            </a:r>
            <a:endParaRPr/>
          </a:p>
        </p:txBody>
      </p:sp>
      <p:sp>
        <p:nvSpPr>
          <p:cNvPr id="122" name="Google Shape;122;p20"/>
          <p:cNvSpPr/>
          <p:nvPr/>
        </p:nvSpPr>
        <p:spPr>
          <a:xfrm>
            <a:off x="7263425" y="237000"/>
            <a:ext cx="1554000" cy="15540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/>
        </p:nvSpPr>
        <p:spPr>
          <a:xfrm>
            <a:off x="552450" y="854775"/>
            <a:ext cx="3886200" cy="1793400"/>
          </a:xfrm>
          <a:prstGeom prst="rect">
            <a:avLst/>
          </a:prstGeom>
          <a:solidFill>
            <a:srgbClr val="F0F1FA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" sz="2200" b="1" i="0" u="none" strike="noStrike" cap="none">
                <a:solidFill>
                  <a:srgbClr val="00A4BD"/>
                </a:solidFill>
                <a:latin typeface="Avenir"/>
                <a:ea typeface="Avenir"/>
                <a:cs typeface="Avenir"/>
                <a:sym typeface="Avenir"/>
              </a:rPr>
              <a:t>FORTALEZAS</a:t>
            </a:r>
            <a:endParaRPr sz="2200" b="1" i="0" u="none" strike="noStrike" cap="none">
              <a:solidFill>
                <a:srgbClr val="00A4BD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AutoNum type="arabicPeriod"/>
            </a:pPr>
            <a:r>
              <a:rPr lang="es" sz="15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AutoNum type="arabicPeriod"/>
            </a:pPr>
            <a:r>
              <a:rPr lang="es" sz="15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AutoNum type="arabicPeriod"/>
            </a:pPr>
            <a:r>
              <a:rPr lang="es" sz="15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AutoNum type="arabicPeriod"/>
            </a:pPr>
            <a:r>
              <a:rPr lang="es" sz="15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None/>
            </a:pP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552450" y="3140625"/>
            <a:ext cx="3886200" cy="1793400"/>
          </a:xfrm>
          <a:prstGeom prst="rect">
            <a:avLst/>
          </a:prstGeom>
          <a:solidFill>
            <a:srgbClr val="F0F1FA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 b="1" i="0" u="none" strike="noStrike" cap="none">
                <a:solidFill>
                  <a:srgbClr val="00A4BD"/>
                </a:solidFill>
                <a:latin typeface="Avenir"/>
                <a:ea typeface="Avenir"/>
                <a:cs typeface="Avenir"/>
                <a:sym typeface="Avenir"/>
              </a:rPr>
              <a:t>OPORTUNIDADES</a:t>
            </a:r>
            <a:endParaRPr sz="2200" b="1" i="0" u="none" strike="noStrike" cap="none">
              <a:solidFill>
                <a:srgbClr val="00A4BD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1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AutoNum type="arabicPeriod"/>
            </a:pPr>
            <a:r>
              <a:rPr lang="es" sz="15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AutoNum type="arabicPeriod"/>
            </a:pPr>
            <a:r>
              <a:rPr lang="es" sz="15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AutoNum type="arabicPeriod"/>
            </a:pPr>
            <a:r>
              <a:rPr lang="es" sz="15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AutoNum type="arabicPeriod"/>
            </a:pPr>
            <a:r>
              <a:rPr lang="es" sz="15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None/>
            </a:pP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5010150" y="854775"/>
            <a:ext cx="3886200" cy="1793400"/>
          </a:xfrm>
          <a:prstGeom prst="rect">
            <a:avLst/>
          </a:prstGeom>
          <a:solidFill>
            <a:srgbClr val="FDEDF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" sz="2200" b="1" i="0" u="none" strike="noStrike" cap="none">
                <a:solidFill>
                  <a:srgbClr val="F2547D"/>
                </a:solidFill>
                <a:latin typeface="Avenir"/>
                <a:ea typeface="Avenir"/>
                <a:cs typeface="Avenir"/>
                <a:sym typeface="Avenir"/>
              </a:rPr>
              <a:t>DEBILIDADES</a:t>
            </a:r>
            <a:endParaRPr sz="2200" b="1" i="0" u="none" strike="noStrike" cap="none">
              <a:solidFill>
                <a:srgbClr val="F2547D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AutoNum type="arabicPeriod"/>
            </a:pPr>
            <a:r>
              <a:rPr lang="es" sz="15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AutoNum type="arabicPeriod"/>
            </a:pPr>
            <a:r>
              <a:rPr lang="es" sz="15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AutoNum type="arabicPeriod"/>
            </a:pPr>
            <a:r>
              <a:rPr lang="es" sz="15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AutoNum type="arabicPeriod"/>
            </a:pPr>
            <a:r>
              <a:rPr lang="es" sz="15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None/>
            </a:pP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5010150" y="3140625"/>
            <a:ext cx="3886200" cy="1793400"/>
          </a:xfrm>
          <a:prstGeom prst="rect">
            <a:avLst/>
          </a:prstGeom>
          <a:solidFill>
            <a:srgbClr val="FDEDF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 b="1" i="0" u="none" strike="noStrike" cap="none">
                <a:solidFill>
                  <a:srgbClr val="F2547D"/>
                </a:solidFill>
                <a:latin typeface="Avenir"/>
                <a:ea typeface="Avenir"/>
                <a:cs typeface="Avenir"/>
                <a:sym typeface="Avenir"/>
              </a:rPr>
              <a:t>AMENAZAS</a:t>
            </a:r>
            <a:endParaRPr sz="2200" b="1" i="0" u="none" strike="noStrike" cap="none">
              <a:solidFill>
                <a:srgbClr val="F2547D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AutoNum type="arabicPeriod"/>
            </a:pPr>
            <a:r>
              <a:rPr lang="es" sz="15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AutoNum type="arabicPeriod"/>
            </a:pPr>
            <a:r>
              <a:rPr lang="es" sz="15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AutoNum type="arabicPeriod"/>
            </a:pPr>
            <a:r>
              <a:rPr lang="es" sz="15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AutoNum type="arabicPeriod"/>
            </a:pPr>
            <a:r>
              <a:rPr lang="es" sz="15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None/>
            </a:pP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1" name="Google Shape;131;p21"/>
          <p:cNvSpPr txBox="1">
            <a:spLocks noGrp="1"/>
          </p:cNvSpPr>
          <p:nvPr>
            <p:ph type="body" idx="4294967295"/>
          </p:nvPr>
        </p:nvSpPr>
        <p:spPr>
          <a:xfrm>
            <a:off x="76200" y="-57150"/>
            <a:ext cx="5753100" cy="657600"/>
          </a:xfrm>
          <a:prstGeom prst="rect">
            <a:avLst/>
          </a:prstGeom>
          <a:noFill/>
          <a:ln w="9525" cap="flat" cmpd="sng">
            <a:solidFill>
              <a:srgbClr val="00A4B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s" sz="3500">
                <a:solidFill>
                  <a:srgbClr val="4D5156"/>
                </a:solidFill>
                <a:latin typeface="Avenir"/>
                <a:ea typeface="Avenir"/>
                <a:cs typeface="Avenir"/>
                <a:sym typeface="Avenir"/>
              </a:rPr>
              <a:t>«Nombre de tu </a:t>
            </a:r>
            <a:r>
              <a:rPr lang="es" sz="3500" b="1">
                <a:solidFill>
                  <a:srgbClr val="33475B"/>
                </a:solidFill>
                <a:latin typeface="Avenir"/>
                <a:ea typeface="Avenir"/>
                <a:cs typeface="Avenir"/>
                <a:sym typeface="Avenir"/>
              </a:rPr>
              <a:t>empresa</a:t>
            </a:r>
            <a:r>
              <a:rPr lang="es" sz="3500">
                <a:solidFill>
                  <a:srgbClr val="4D5156"/>
                </a:solidFill>
                <a:latin typeface="Avenir"/>
                <a:ea typeface="Avenir"/>
                <a:cs typeface="Avenir"/>
                <a:sym typeface="Avenir"/>
              </a:rPr>
              <a:t>»</a:t>
            </a:r>
            <a:endParaRPr sz="3500" b="1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132" name="Google Shape;132;p21"/>
          <p:cNvCxnSpPr/>
          <p:nvPr/>
        </p:nvCxnSpPr>
        <p:spPr>
          <a:xfrm rot="10800000" flipH="1">
            <a:off x="5505150" y="351525"/>
            <a:ext cx="3391200" cy="10800"/>
          </a:xfrm>
          <a:prstGeom prst="straightConnector1">
            <a:avLst/>
          </a:prstGeom>
          <a:noFill/>
          <a:ln w="38100" cap="flat" cmpd="sng">
            <a:solidFill>
              <a:srgbClr val="F2545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3" name="Google Shape;133;p21"/>
          <p:cNvCxnSpPr/>
          <p:nvPr/>
        </p:nvCxnSpPr>
        <p:spPr>
          <a:xfrm rot="10800000" flipH="1">
            <a:off x="76200" y="356400"/>
            <a:ext cx="252000" cy="3600"/>
          </a:xfrm>
          <a:prstGeom prst="straightConnector1">
            <a:avLst/>
          </a:prstGeom>
          <a:noFill/>
          <a:ln w="38100" cap="flat" cmpd="sng">
            <a:solidFill>
              <a:srgbClr val="F2545B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5" y="0"/>
            <a:ext cx="9136072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" name="Google Shape;139;p22"/>
          <p:cNvCxnSpPr/>
          <p:nvPr/>
        </p:nvCxnSpPr>
        <p:spPr>
          <a:xfrm>
            <a:off x="2724150" y="2081225"/>
            <a:ext cx="1585800" cy="4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" name="Google Shape;140;p22"/>
          <p:cNvCxnSpPr/>
          <p:nvPr/>
        </p:nvCxnSpPr>
        <p:spPr>
          <a:xfrm>
            <a:off x="581000" y="2081225"/>
            <a:ext cx="1585800" cy="4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" name="Google Shape;141;p22"/>
          <p:cNvCxnSpPr/>
          <p:nvPr/>
        </p:nvCxnSpPr>
        <p:spPr>
          <a:xfrm>
            <a:off x="4867300" y="2081225"/>
            <a:ext cx="1585800" cy="4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" name="Google Shape;142;p22"/>
          <p:cNvCxnSpPr/>
          <p:nvPr/>
        </p:nvCxnSpPr>
        <p:spPr>
          <a:xfrm>
            <a:off x="6996150" y="2081225"/>
            <a:ext cx="1585800" cy="4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3" name="Google Shape;143;p22"/>
          <p:cNvSpPr txBox="1"/>
          <p:nvPr/>
        </p:nvSpPr>
        <p:spPr>
          <a:xfrm>
            <a:off x="922200" y="252950"/>
            <a:ext cx="7299600" cy="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2D3E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Nombre personal o nombre de tu empresa </a:t>
            </a:r>
            <a:endParaRPr sz="2000">
              <a:solidFill>
                <a:srgbClr val="2D3E5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1016450" y="1132113"/>
            <a:ext cx="714900" cy="11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100">
                <a:solidFill>
                  <a:srgbClr val="FFFFFF"/>
                </a:solidFill>
                <a:latin typeface="Lora SemiBold"/>
                <a:ea typeface="Lora SemiBold"/>
                <a:cs typeface="Lora SemiBold"/>
                <a:sym typeface="Lora SemiBold"/>
              </a:rPr>
              <a:t>F</a:t>
            </a:r>
            <a:endParaRPr sz="6100"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145" name="Google Shape;145;p22"/>
          <p:cNvSpPr txBox="1"/>
          <p:nvPr/>
        </p:nvSpPr>
        <p:spPr>
          <a:xfrm>
            <a:off x="663200" y="2083125"/>
            <a:ext cx="142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FORTALEZAS</a:t>
            </a:r>
            <a:endParaRPr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46" name="Google Shape;146;p22"/>
          <p:cNvSpPr txBox="1"/>
          <p:nvPr/>
        </p:nvSpPr>
        <p:spPr>
          <a:xfrm>
            <a:off x="5276475" y="1132113"/>
            <a:ext cx="714900" cy="11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100">
                <a:solidFill>
                  <a:srgbClr val="FFFFFF"/>
                </a:solidFill>
                <a:latin typeface="Lora SemiBold"/>
                <a:ea typeface="Lora SemiBold"/>
                <a:cs typeface="Lora SemiBold"/>
                <a:sym typeface="Lora SemiBold"/>
              </a:rPr>
              <a:t>D</a:t>
            </a:r>
            <a:endParaRPr sz="6100"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2685900" y="2083125"/>
            <a:ext cx="1662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OPORTUNIDADES</a:t>
            </a:r>
            <a:endParaRPr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3159600" y="1132113"/>
            <a:ext cx="714900" cy="11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100">
                <a:solidFill>
                  <a:srgbClr val="FFFFFF"/>
                </a:solidFill>
                <a:latin typeface="Lora SemiBold"/>
                <a:ea typeface="Lora SemiBold"/>
                <a:cs typeface="Lora SemiBold"/>
                <a:sym typeface="Lora SemiBold"/>
              </a:rPr>
              <a:t>O</a:t>
            </a:r>
            <a:endParaRPr sz="6100"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4942350" y="2083125"/>
            <a:ext cx="142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DEBILIDADES</a:t>
            </a:r>
            <a:endParaRPr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7445900" y="1132113"/>
            <a:ext cx="714900" cy="11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100">
                <a:solidFill>
                  <a:srgbClr val="FFFFFF"/>
                </a:solidFill>
                <a:latin typeface="Lora SemiBold"/>
                <a:ea typeface="Lora SemiBold"/>
                <a:cs typeface="Lora SemiBold"/>
                <a:sym typeface="Lora SemiBold"/>
              </a:rPr>
              <a:t>A</a:t>
            </a:r>
            <a:endParaRPr sz="6100"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6957900" y="2081219"/>
            <a:ext cx="1662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AMENAZAS</a:t>
            </a:r>
            <a:endParaRPr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DA5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>
            <a:spLocks noGrp="1"/>
          </p:cNvSpPr>
          <p:nvPr>
            <p:ph type="body" idx="1"/>
          </p:nvPr>
        </p:nvSpPr>
        <p:spPr>
          <a:xfrm>
            <a:off x="1695450" y="1647750"/>
            <a:ext cx="5753100" cy="18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4300" b="1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Plantillas FODA de análisis personal</a:t>
            </a:r>
            <a:endParaRPr sz="4300" b="1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sz="4300" b="1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5" y="0"/>
            <a:ext cx="913607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0241" y="788775"/>
            <a:ext cx="1097841" cy="1456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3427" y="788775"/>
            <a:ext cx="1534737" cy="1456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95400" y="3203206"/>
            <a:ext cx="1467522" cy="1456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13016" y="3203206"/>
            <a:ext cx="1635559" cy="145631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4"/>
          <p:cNvSpPr txBox="1"/>
          <p:nvPr/>
        </p:nvSpPr>
        <p:spPr>
          <a:xfrm>
            <a:off x="446700" y="424125"/>
            <a:ext cx="176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FF8F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Fortalezas</a:t>
            </a:r>
            <a:endParaRPr sz="1600">
              <a:solidFill>
                <a:srgbClr val="FF8F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446700" y="2801325"/>
            <a:ext cx="176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F5C26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Debilidades</a:t>
            </a:r>
            <a:endParaRPr sz="1600">
              <a:solidFill>
                <a:srgbClr val="F5C26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8" name="Google Shape;168;p24"/>
          <p:cNvSpPr txBox="1"/>
          <p:nvPr/>
        </p:nvSpPr>
        <p:spPr>
          <a:xfrm>
            <a:off x="6531250" y="424125"/>
            <a:ext cx="2190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00BDA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Oportunidades</a:t>
            </a:r>
            <a:endParaRPr sz="1600">
              <a:solidFill>
                <a:srgbClr val="00BDA5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9" name="Google Shape;169;p24"/>
          <p:cNvSpPr txBox="1"/>
          <p:nvPr/>
        </p:nvSpPr>
        <p:spPr>
          <a:xfrm>
            <a:off x="6954125" y="2801325"/>
            <a:ext cx="176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00A4BD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Amenazas</a:t>
            </a:r>
            <a:endParaRPr sz="1600">
              <a:solidFill>
                <a:srgbClr val="00A4BD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0" name="Google Shape;170;p24"/>
          <p:cNvSpPr txBox="1"/>
          <p:nvPr/>
        </p:nvSpPr>
        <p:spPr>
          <a:xfrm>
            <a:off x="369600" y="1044500"/>
            <a:ext cx="20154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8F59"/>
              </a:buClr>
              <a:buSzPts val="1100"/>
              <a:buChar char="●"/>
            </a:pPr>
            <a:r>
              <a:rPr lang="es" sz="1100">
                <a:solidFill>
                  <a:srgbClr val="FF8F59"/>
                </a:solidFill>
              </a:rPr>
              <a:t>Tema 1</a:t>
            </a:r>
            <a:endParaRPr sz="1100">
              <a:solidFill>
                <a:srgbClr val="FF8F59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8F59"/>
              </a:buClr>
              <a:buSzPts val="1100"/>
              <a:buChar char="●"/>
            </a:pPr>
            <a:r>
              <a:rPr lang="es" sz="1100">
                <a:solidFill>
                  <a:srgbClr val="FF8F59"/>
                </a:solidFill>
              </a:rPr>
              <a:t>Tema 2</a:t>
            </a:r>
            <a:endParaRPr sz="1100">
              <a:solidFill>
                <a:srgbClr val="FF8F59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8F59"/>
              </a:buClr>
              <a:buSzPts val="1100"/>
              <a:buChar char="●"/>
            </a:pPr>
            <a:r>
              <a:rPr lang="es" sz="1100">
                <a:solidFill>
                  <a:srgbClr val="FF8F59"/>
                </a:solidFill>
              </a:rPr>
              <a:t>Tema 3</a:t>
            </a:r>
            <a:endParaRPr sz="1100">
              <a:solidFill>
                <a:srgbClr val="FF8F59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8F59"/>
              </a:buClr>
              <a:buSzPts val="1100"/>
              <a:buChar char="●"/>
            </a:pPr>
            <a:r>
              <a:rPr lang="es" sz="1100">
                <a:solidFill>
                  <a:srgbClr val="FF8F59"/>
                </a:solidFill>
              </a:rPr>
              <a:t>Tema 4</a:t>
            </a:r>
            <a:endParaRPr sz="1100">
              <a:solidFill>
                <a:srgbClr val="FF8F59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8F59"/>
              </a:buClr>
              <a:buSzPts val="1100"/>
              <a:buChar char="●"/>
            </a:pPr>
            <a:r>
              <a:rPr lang="es" sz="1100">
                <a:solidFill>
                  <a:srgbClr val="FF8F59"/>
                </a:solidFill>
              </a:rPr>
              <a:t>Tema 5</a:t>
            </a:r>
            <a:endParaRPr sz="1100">
              <a:solidFill>
                <a:srgbClr val="FF8F59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71" name="Google Shape;171;p24"/>
          <p:cNvSpPr txBox="1"/>
          <p:nvPr/>
        </p:nvSpPr>
        <p:spPr>
          <a:xfrm>
            <a:off x="369600" y="3407263"/>
            <a:ext cx="20154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C26B"/>
              </a:buClr>
              <a:buSzPts val="1100"/>
              <a:buChar char="●"/>
            </a:pPr>
            <a:r>
              <a:rPr lang="es" sz="1100">
                <a:solidFill>
                  <a:srgbClr val="F5C26B"/>
                </a:solidFill>
              </a:rPr>
              <a:t>Tema 1</a:t>
            </a:r>
            <a:endParaRPr sz="1100">
              <a:solidFill>
                <a:srgbClr val="F5C26B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C26B"/>
              </a:buClr>
              <a:buSzPts val="1100"/>
              <a:buChar char="●"/>
            </a:pPr>
            <a:r>
              <a:rPr lang="es" sz="1100">
                <a:solidFill>
                  <a:srgbClr val="F5C26B"/>
                </a:solidFill>
              </a:rPr>
              <a:t>Tema 2</a:t>
            </a:r>
            <a:endParaRPr sz="1100">
              <a:solidFill>
                <a:srgbClr val="F5C26B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C26B"/>
              </a:buClr>
              <a:buSzPts val="1100"/>
              <a:buChar char="●"/>
            </a:pPr>
            <a:r>
              <a:rPr lang="es" sz="1100">
                <a:solidFill>
                  <a:srgbClr val="F5C26B"/>
                </a:solidFill>
              </a:rPr>
              <a:t>Tema 3</a:t>
            </a:r>
            <a:endParaRPr sz="1100">
              <a:solidFill>
                <a:srgbClr val="F5C26B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C26B"/>
              </a:buClr>
              <a:buSzPts val="1100"/>
              <a:buChar char="●"/>
            </a:pPr>
            <a:r>
              <a:rPr lang="es" sz="1100">
                <a:solidFill>
                  <a:srgbClr val="F5C26B"/>
                </a:solidFill>
              </a:rPr>
              <a:t>Tema 4</a:t>
            </a:r>
            <a:endParaRPr sz="1100">
              <a:solidFill>
                <a:srgbClr val="F5C26B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C26B"/>
              </a:buClr>
              <a:buSzPts val="1100"/>
              <a:buChar char="●"/>
            </a:pPr>
            <a:r>
              <a:rPr lang="es" sz="1100">
                <a:solidFill>
                  <a:srgbClr val="F5C26B"/>
                </a:solidFill>
              </a:rPr>
              <a:t>Tema 5</a:t>
            </a:r>
            <a:endParaRPr sz="1100">
              <a:solidFill>
                <a:srgbClr val="F5C26B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72" name="Google Shape;172;p24"/>
          <p:cNvSpPr txBox="1"/>
          <p:nvPr/>
        </p:nvSpPr>
        <p:spPr>
          <a:xfrm>
            <a:off x="5594500" y="1044500"/>
            <a:ext cx="20154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DA5"/>
              </a:buClr>
              <a:buSzPts val="1100"/>
              <a:buChar char="●"/>
            </a:pPr>
            <a:r>
              <a:rPr lang="es" sz="1100">
                <a:solidFill>
                  <a:srgbClr val="00BDA5"/>
                </a:solidFill>
              </a:rPr>
              <a:t>Tema 1</a:t>
            </a:r>
            <a:endParaRPr sz="1100">
              <a:solidFill>
                <a:srgbClr val="00BDA5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DA5"/>
              </a:buClr>
              <a:buSzPts val="1100"/>
              <a:buChar char="●"/>
            </a:pPr>
            <a:r>
              <a:rPr lang="es" sz="1100">
                <a:solidFill>
                  <a:srgbClr val="00BDA5"/>
                </a:solidFill>
              </a:rPr>
              <a:t>Tema 2</a:t>
            </a:r>
            <a:endParaRPr sz="1100">
              <a:solidFill>
                <a:srgbClr val="00BDA5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DA5"/>
              </a:buClr>
              <a:buSzPts val="1100"/>
              <a:buChar char="●"/>
            </a:pPr>
            <a:r>
              <a:rPr lang="es" sz="1100">
                <a:solidFill>
                  <a:srgbClr val="00BDA5"/>
                </a:solidFill>
              </a:rPr>
              <a:t>Tema 3</a:t>
            </a:r>
            <a:endParaRPr sz="1100">
              <a:solidFill>
                <a:srgbClr val="00BDA5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DA5"/>
              </a:buClr>
              <a:buSzPts val="1100"/>
              <a:buChar char="●"/>
            </a:pPr>
            <a:r>
              <a:rPr lang="es" sz="1100">
                <a:solidFill>
                  <a:srgbClr val="00BDA5"/>
                </a:solidFill>
              </a:rPr>
              <a:t>Tema 4</a:t>
            </a:r>
            <a:endParaRPr sz="1100">
              <a:solidFill>
                <a:srgbClr val="00BDA5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DA5"/>
              </a:buClr>
              <a:buSzPts val="1100"/>
              <a:buChar char="●"/>
            </a:pPr>
            <a:r>
              <a:rPr lang="es" sz="1100">
                <a:solidFill>
                  <a:srgbClr val="00BDA5"/>
                </a:solidFill>
              </a:rPr>
              <a:t>Tema 5</a:t>
            </a:r>
            <a:endParaRPr sz="1100">
              <a:solidFill>
                <a:srgbClr val="00BDA5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73" name="Google Shape;173;p24"/>
          <p:cNvSpPr txBox="1"/>
          <p:nvPr/>
        </p:nvSpPr>
        <p:spPr>
          <a:xfrm>
            <a:off x="5594500" y="3407263"/>
            <a:ext cx="20154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4BD"/>
              </a:buClr>
              <a:buSzPts val="1100"/>
              <a:buChar char="●"/>
            </a:pPr>
            <a:r>
              <a:rPr lang="es" sz="1100">
                <a:solidFill>
                  <a:srgbClr val="00A4BD"/>
                </a:solidFill>
              </a:rPr>
              <a:t>Tema 1</a:t>
            </a:r>
            <a:endParaRPr sz="1100">
              <a:solidFill>
                <a:srgbClr val="00A4BD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4BD"/>
              </a:buClr>
              <a:buSzPts val="1100"/>
              <a:buChar char="●"/>
            </a:pPr>
            <a:r>
              <a:rPr lang="es" sz="1100">
                <a:solidFill>
                  <a:srgbClr val="00A4BD"/>
                </a:solidFill>
              </a:rPr>
              <a:t>Tema 2</a:t>
            </a:r>
            <a:endParaRPr sz="1100">
              <a:solidFill>
                <a:srgbClr val="00A4BD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4BD"/>
              </a:buClr>
              <a:buSzPts val="1100"/>
              <a:buChar char="●"/>
            </a:pPr>
            <a:r>
              <a:rPr lang="es" sz="1100">
                <a:solidFill>
                  <a:srgbClr val="00A4BD"/>
                </a:solidFill>
              </a:rPr>
              <a:t>Tema 3</a:t>
            </a:r>
            <a:endParaRPr sz="1100">
              <a:solidFill>
                <a:srgbClr val="00A4BD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4BD"/>
              </a:buClr>
              <a:buSzPts val="1100"/>
              <a:buChar char="●"/>
            </a:pPr>
            <a:r>
              <a:rPr lang="es" sz="1100">
                <a:solidFill>
                  <a:srgbClr val="00A4BD"/>
                </a:solidFill>
              </a:rPr>
              <a:t>Tema 4</a:t>
            </a:r>
            <a:endParaRPr sz="1100">
              <a:solidFill>
                <a:srgbClr val="00A4BD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4BD"/>
              </a:buClr>
              <a:buSzPts val="1100"/>
              <a:buChar char="●"/>
            </a:pPr>
            <a:r>
              <a:rPr lang="es" sz="1100">
                <a:solidFill>
                  <a:srgbClr val="00A4BD"/>
                </a:solidFill>
              </a:rPr>
              <a:t>Tema 5</a:t>
            </a:r>
            <a:endParaRPr sz="1100">
              <a:solidFill>
                <a:srgbClr val="00A4BD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74" name="Google Shape;174;p24"/>
          <p:cNvSpPr txBox="1"/>
          <p:nvPr/>
        </p:nvSpPr>
        <p:spPr>
          <a:xfrm>
            <a:off x="3488913" y="3034250"/>
            <a:ext cx="2190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D3E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Tu Nombre</a:t>
            </a:r>
            <a:endParaRPr sz="1200">
              <a:solidFill>
                <a:srgbClr val="2D3E5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5" y="0"/>
            <a:ext cx="913607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0241" y="788775"/>
            <a:ext cx="1097841" cy="1456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3427" y="788775"/>
            <a:ext cx="1534737" cy="1456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95400" y="3203206"/>
            <a:ext cx="1467522" cy="1456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13016" y="3203206"/>
            <a:ext cx="1635559" cy="145631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5"/>
          <p:cNvSpPr txBox="1"/>
          <p:nvPr/>
        </p:nvSpPr>
        <p:spPr>
          <a:xfrm>
            <a:off x="446700" y="424125"/>
            <a:ext cx="176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FF8F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Fortalezas</a:t>
            </a:r>
            <a:endParaRPr sz="1600">
              <a:solidFill>
                <a:srgbClr val="FF8F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5" name="Google Shape;185;p25"/>
          <p:cNvSpPr txBox="1"/>
          <p:nvPr/>
        </p:nvSpPr>
        <p:spPr>
          <a:xfrm>
            <a:off x="446700" y="2801325"/>
            <a:ext cx="176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F5C26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Debilidades</a:t>
            </a:r>
            <a:endParaRPr sz="1600">
              <a:solidFill>
                <a:srgbClr val="F5C26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6" name="Google Shape;186;p25"/>
          <p:cNvSpPr txBox="1"/>
          <p:nvPr/>
        </p:nvSpPr>
        <p:spPr>
          <a:xfrm>
            <a:off x="6531250" y="424125"/>
            <a:ext cx="2190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00BDA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Oportunidades</a:t>
            </a:r>
            <a:endParaRPr sz="1600">
              <a:solidFill>
                <a:srgbClr val="00BDA5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7" name="Google Shape;187;p25"/>
          <p:cNvSpPr txBox="1"/>
          <p:nvPr/>
        </p:nvSpPr>
        <p:spPr>
          <a:xfrm>
            <a:off x="6954125" y="2801325"/>
            <a:ext cx="176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00A4BD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Amenazas</a:t>
            </a:r>
            <a:endParaRPr sz="1600">
              <a:solidFill>
                <a:srgbClr val="00A4BD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8" name="Google Shape;188;p25"/>
          <p:cNvSpPr txBox="1"/>
          <p:nvPr/>
        </p:nvSpPr>
        <p:spPr>
          <a:xfrm>
            <a:off x="369600" y="1044500"/>
            <a:ext cx="20154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8F59"/>
              </a:buClr>
              <a:buSzPts val="1100"/>
              <a:buChar char="●"/>
            </a:pPr>
            <a:r>
              <a:rPr lang="es" sz="1100">
                <a:solidFill>
                  <a:srgbClr val="FF8F59"/>
                </a:solidFill>
              </a:rPr>
              <a:t>Tema 1</a:t>
            </a:r>
            <a:endParaRPr sz="1100">
              <a:solidFill>
                <a:srgbClr val="FF8F59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8F59"/>
              </a:buClr>
              <a:buSzPts val="1100"/>
              <a:buChar char="●"/>
            </a:pPr>
            <a:r>
              <a:rPr lang="es" sz="1100">
                <a:solidFill>
                  <a:srgbClr val="FF8F59"/>
                </a:solidFill>
              </a:rPr>
              <a:t>Tema 2</a:t>
            </a:r>
            <a:endParaRPr sz="1100">
              <a:solidFill>
                <a:srgbClr val="FF8F59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8F59"/>
              </a:buClr>
              <a:buSzPts val="1100"/>
              <a:buChar char="●"/>
            </a:pPr>
            <a:r>
              <a:rPr lang="es" sz="1100">
                <a:solidFill>
                  <a:srgbClr val="FF8F59"/>
                </a:solidFill>
              </a:rPr>
              <a:t>Tema 3</a:t>
            </a:r>
            <a:endParaRPr sz="1100">
              <a:solidFill>
                <a:srgbClr val="FF8F59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8F59"/>
              </a:buClr>
              <a:buSzPts val="1100"/>
              <a:buChar char="●"/>
            </a:pPr>
            <a:r>
              <a:rPr lang="es" sz="1100">
                <a:solidFill>
                  <a:srgbClr val="FF8F59"/>
                </a:solidFill>
              </a:rPr>
              <a:t>Tema 4</a:t>
            </a:r>
            <a:endParaRPr sz="1100">
              <a:solidFill>
                <a:srgbClr val="FF8F59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8F59"/>
              </a:buClr>
              <a:buSzPts val="1100"/>
              <a:buChar char="●"/>
            </a:pPr>
            <a:r>
              <a:rPr lang="es" sz="1100">
                <a:solidFill>
                  <a:srgbClr val="FF8F59"/>
                </a:solidFill>
              </a:rPr>
              <a:t>Tema 5</a:t>
            </a:r>
            <a:endParaRPr sz="1100">
              <a:solidFill>
                <a:srgbClr val="FF8F59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89" name="Google Shape;189;p25"/>
          <p:cNvSpPr txBox="1"/>
          <p:nvPr/>
        </p:nvSpPr>
        <p:spPr>
          <a:xfrm>
            <a:off x="369600" y="3407263"/>
            <a:ext cx="20154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C26B"/>
              </a:buClr>
              <a:buSzPts val="1100"/>
              <a:buChar char="●"/>
            </a:pPr>
            <a:r>
              <a:rPr lang="es" sz="1100">
                <a:solidFill>
                  <a:srgbClr val="F5C26B"/>
                </a:solidFill>
              </a:rPr>
              <a:t>Tema 1</a:t>
            </a:r>
            <a:endParaRPr sz="1100">
              <a:solidFill>
                <a:srgbClr val="F5C26B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C26B"/>
              </a:buClr>
              <a:buSzPts val="1100"/>
              <a:buChar char="●"/>
            </a:pPr>
            <a:r>
              <a:rPr lang="es" sz="1100">
                <a:solidFill>
                  <a:srgbClr val="F5C26B"/>
                </a:solidFill>
              </a:rPr>
              <a:t>Tema 2</a:t>
            </a:r>
            <a:endParaRPr sz="1100">
              <a:solidFill>
                <a:srgbClr val="F5C26B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C26B"/>
              </a:buClr>
              <a:buSzPts val="1100"/>
              <a:buChar char="●"/>
            </a:pPr>
            <a:r>
              <a:rPr lang="es" sz="1100">
                <a:solidFill>
                  <a:srgbClr val="F5C26B"/>
                </a:solidFill>
              </a:rPr>
              <a:t>Tema 3</a:t>
            </a:r>
            <a:endParaRPr sz="1100">
              <a:solidFill>
                <a:srgbClr val="F5C26B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C26B"/>
              </a:buClr>
              <a:buSzPts val="1100"/>
              <a:buChar char="●"/>
            </a:pPr>
            <a:r>
              <a:rPr lang="es" sz="1100">
                <a:solidFill>
                  <a:srgbClr val="F5C26B"/>
                </a:solidFill>
              </a:rPr>
              <a:t>Tema 4</a:t>
            </a:r>
            <a:endParaRPr sz="1100">
              <a:solidFill>
                <a:srgbClr val="F5C26B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C26B"/>
              </a:buClr>
              <a:buSzPts val="1100"/>
              <a:buChar char="●"/>
            </a:pPr>
            <a:r>
              <a:rPr lang="es" sz="1100">
                <a:solidFill>
                  <a:srgbClr val="F5C26B"/>
                </a:solidFill>
              </a:rPr>
              <a:t>Tema 5</a:t>
            </a:r>
            <a:endParaRPr sz="1100">
              <a:solidFill>
                <a:srgbClr val="F5C26B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90" name="Google Shape;190;p25"/>
          <p:cNvSpPr txBox="1"/>
          <p:nvPr/>
        </p:nvSpPr>
        <p:spPr>
          <a:xfrm>
            <a:off x="5594500" y="1044500"/>
            <a:ext cx="20154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DA5"/>
              </a:buClr>
              <a:buSzPts val="1100"/>
              <a:buChar char="●"/>
            </a:pPr>
            <a:r>
              <a:rPr lang="es" sz="1100">
                <a:solidFill>
                  <a:srgbClr val="00BDA5"/>
                </a:solidFill>
              </a:rPr>
              <a:t>Tema 1</a:t>
            </a:r>
            <a:endParaRPr sz="1100">
              <a:solidFill>
                <a:srgbClr val="00BDA5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DA5"/>
              </a:buClr>
              <a:buSzPts val="1100"/>
              <a:buChar char="●"/>
            </a:pPr>
            <a:r>
              <a:rPr lang="es" sz="1100">
                <a:solidFill>
                  <a:srgbClr val="00BDA5"/>
                </a:solidFill>
              </a:rPr>
              <a:t>Tema 2</a:t>
            </a:r>
            <a:endParaRPr sz="1100">
              <a:solidFill>
                <a:srgbClr val="00BDA5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DA5"/>
              </a:buClr>
              <a:buSzPts val="1100"/>
              <a:buChar char="●"/>
            </a:pPr>
            <a:r>
              <a:rPr lang="es" sz="1100">
                <a:solidFill>
                  <a:srgbClr val="00BDA5"/>
                </a:solidFill>
              </a:rPr>
              <a:t>Tema 3</a:t>
            </a:r>
            <a:endParaRPr sz="1100">
              <a:solidFill>
                <a:srgbClr val="00BDA5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DA5"/>
              </a:buClr>
              <a:buSzPts val="1100"/>
              <a:buChar char="●"/>
            </a:pPr>
            <a:r>
              <a:rPr lang="es" sz="1100">
                <a:solidFill>
                  <a:srgbClr val="00BDA5"/>
                </a:solidFill>
              </a:rPr>
              <a:t>Tema 4</a:t>
            </a:r>
            <a:endParaRPr sz="1100">
              <a:solidFill>
                <a:srgbClr val="00BDA5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DA5"/>
              </a:buClr>
              <a:buSzPts val="1100"/>
              <a:buChar char="●"/>
            </a:pPr>
            <a:r>
              <a:rPr lang="es" sz="1100">
                <a:solidFill>
                  <a:srgbClr val="00BDA5"/>
                </a:solidFill>
              </a:rPr>
              <a:t>Tema 5</a:t>
            </a:r>
            <a:endParaRPr sz="1100">
              <a:solidFill>
                <a:srgbClr val="00BDA5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91" name="Google Shape;191;p25"/>
          <p:cNvSpPr txBox="1"/>
          <p:nvPr/>
        </p:nvSpPr>
        <p:spPr>
          <a:xfrm>
            <a:off x="5594500" y="3407263"/>
            <a:ext cx="20154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4BD"/>
              </a:buClr>
              <a:buSzPts val="1100"/>
              <a:buChar char="●"/>
            </a:pPr>
            <a:r>
              <a:rPr lang="es" sz="1100">
                <a:solidFill>
                  <a:srgbClr val="00A4BD"/>
                </a:solidFill>
              </a:rPr>
              <a:t>Tema 1</a:t>
            </a:r>
            <a:endParaRPr sz="1100">
              <a:solidFill>
                <a:srgbClr val="00A4BD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4BD"/>
              </a:buClr>
              <a:buSzPts val="1100"/>
              <a:buChar char="●"/>
            </a:pPr>
            <a:r>
              <a:rPr lang="es" sz="1100">
                <a:solidFill>
                  <a:srgbClr val="00A4BD"/>
                </a:solidFill>
              </a:rPr>
              <a:t>Tema 2</a:t>
            </a:r>
            <a:endParaRPr sz="1100">
              <a:solidFill>
                <a:srgbClr val="00A4BD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4BD"/>
              </a:buClr>
              <a:buSzPts val="1100"/>
              <a:buChar char="●"/>
            </a:pPr>
            <a:r>
              <a:rPr lang="es" sz="1100">
                <a:solidFill>
                  <a:srgbClr val="00A4BD"/>
                </a:solidFill>
              </a:rPr>
              <a:t>Tema 3</a:t>
            </a:r>
            <a:endParaRPr sz="1100">
              <a:solidFill>
                <a:srgbClr val="00A4BD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4BD"/>
              </a:buClr>
              <a:buSzPts val="1100"/>
              <a:buChar char="●"/>
            </a:pPr>
            <a:r>
              <a:rPr lang="es" sz="1100">
                <a:solidFill>
                  <a:srgbClr val="00A4BD"/>
                </a:solidFill>
              </a:rPr>
              <a:t>Tema 4</a:t>
            </a:r>
            <a:endParaRPr sz="1100">
              <a:solidFill>
                <a:srgbClr val="00A4BD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4BD"/>
              </a:buClr>
              <a:buSzPts val="1100"/>
              <a:buChar char="●"/>
            </a:pPr>
            <a:r>
              <a:rPr lang="es" sz="1100">
                <a:solidFill>
                  <a:srgbClr val="00A4BD"/>
                </a:solidFill>
              </a:rPr>
              <a:t>Tema 5</a:t>
            </a:r>
            <a:endParaRPr sz="1100">
              <a:solidFill>
                <a:srgbClr val="00A4BD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92" name="Google Shape;192;p25"/>
          <p:cNvSpPr txBox="1"/>
          <p:nvPr/>
        </p:nvSpPr>
        <p:spPr>
          <a:xfrm>
            <a:off x="3488913" y="3034250"/>
            <a:ext cx="2190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D3E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Tu Nombre</a:t>
            </a:r>
            <a:endParaRPr sz="1200">
              <a:solidFill>
                <a:srgbClr val="2D3E5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D1DE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/>
          <p:nvPr/>
        </p:nvSpPr>
        <p:spPr>
          <a:xfrm>
            <a:off x="2343600" y="499350"/>
            <a:ext cx="4456800" cy="4144800"/>
          </a:xfrm>
          <a:prstGeom prst="mathPlus">
            <a:avLst>
              <a:gd name="adj1" fmla="val 4109"/>
            </a:avLst>
          </a:prstGeom>
          <a:solidFill>
            <a:srgbClr val="2D3E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 txBox="1"/>
          <p:nvPr/>
        </p:nvSpPr>
        <p:spPr>
          <a:xfrm>
            <a:off x="762000" y="473775"/>
            <a:ext cx="3543300" cy="21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1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Fortalezas</a:t>
            </a:r>
            <a:endParaRPr sz="1600" b="1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➔"/>
            </a:pPr>
            <a:r>
              <a:rPr lang="es" sz="1600" b="0" i="0" u="none" strike="noStrike" cap="none">
                <a:solidFill>
                  <a:srgbClr val="33475B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600" b="0" i="0" u="none" strike="noStrike" cap="none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75B"/>
              </a:buClr>
              <a:buSzPts val="1600"/>
              <a:buFont typeface="Avenir"/>
              <a:buChar char="➔"/>
            </a:pPr>
            <a:r>
              <a:rPr lang="es" sz="1600" b="0" i="0" u="none" strike="noStrike" cap="none">
                <a:solidFill>
                  <a:srgbClr val="33475B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600" b="0" i="0" u="none" strike="noStrike" cap="none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75B"/>
              </a:buClr>
              <a:buSzPts val="1600"/>
              <a:buFont typeface="Avenir"/>
              <a:buChar char="➔"/>
            </a:pPr>
            <a:r>
              <a:rPr lang="es" sz="1600" b="0" i="0" u="none" strike="noStrike" cap="none">
                <a:solidFill>
                  <a:srgbClr val="33475B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600" b="0" i="0" u="none" strike="noStrike" cap="none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75B"/>
              </a:buClr>
              <a:buSzPts val="1600"/>
              <a:buFont typeface="Avenir"/>
              <a:buChar char="➔"/>
            </a:pPr>
            <a:r>
              <a:rPr lang="es" sz="1600" b="0" i="0" u="none" strike="noStrike" cap="none">
                <a:solidFill>
                  <a:srgbClr val="33475B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600" b="0" i="0" u="none" strike="noStrike" cap="none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75B"/>
              </a:buClr>
              <a:buSzPts val="1600"/>
              <a:buFont typeface="Avenir"/>
              <a:buNone/>
            </a:pPr>
            <a:endParaRPr sz="1600" b="0" i="0" u="none" strike="noStrike" cap="none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9" name="Google Shape;199;p26"/>
          <p:cNvSpPr txBox="1"/>
          <p:nvPr/>
        </p:nvSpPr>
        <p:spPr>
          <a:xfrm>
            <a:off x="762000" y="2835975"/>
            <a:ext cx="3886200" cy="21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Oportunidades</a:t>
            </a:r>
            <a:endParaRPr sz="1600" b="1" i="0" u="none" strike="noStrike" cap="non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venir"/>
              <a:buChar char="➔"/>
            </a:pPr>
            <a:r>
              <a:rPr lang="es" sz="1600" b="0" i="0" u="none" strike="noStrike" cap="none">
                <a:solidFill>
                  <a:srgbClr val="33475B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600" b="0" i="0" u="none" strike="noStrike" cap="none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75B"/>
              </a:buClr>
              <a:buSzPts val="1600"/>
              <a:buFont typeface="Avenir"/>
              <a:buChar char="➔"/>
            </a:pPr>
            <a:r>
              <a:rPr lang="es" sz="1600" b="0" i="0" u="none" strike="noStrike" cap="none">
                <a:solidFill>
                  <a:srgbClr val="33475B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600" b="0" i="0" u="none" strike="noStrike" cap="none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75B"/>
              </a:buClr>
              <a:buSzPts val="1600"/>
              <a:buFont typeface="Avenir"/>
              <a:buChar char="➔"/>
            </a:pPr>
            <a:r>
              <a:rPr lang="es" sz="1600" b="0" i="0" u="none" strike="noStrike" cap="none">
                <a:solidFill>
                  <a:srgbClr val="33475B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600" b="0" i="0" u="none" strike="noStrike" cap="none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75B"/>
              </a:buClr>
              <a:buSzPts val="1600"/>
              <a:buFont typeface="Avenir"/>
              <a:buChar char="➔"/>
            </a:pPr>
            <a:r>
              <a:rPr lang="es" sz="1600" b="0" i="0" u="none" strike="noStrike" cap="none">
                <a:solidFill>
                  <a:srgbClr val="33475B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600" b="0" i="0" u="none" strike="noStrike" cap="none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75B"/>
              </a:buClr>
              <a:buSzPts val="1600"/>
              <a:buFont typeface="Avenir"/>
              <a:buNone/>
            </a:pPr>
            <a:endParaRPr sz="1600" b="0" i="0" u="none" strike="noStrike" cap="none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0" name="Google Shape;200;p26"/>
          <p:cNvSpPr txBox="1"/>
          <p:nvPr/>
        </p:nvSpPr>
        <p:spPr>
          <a:xfrm>
            <a:off x="5183900" y="473775"/>
            <a:ext cx="3636300" cy="21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Debilidades</a:t>
            </a:r>
            <a:endParaRPr sz="1600" b="1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➔"/>
            </a:pPr>
            <a:r>
              <a:rPr lang="es" sz="1600" b="0" i="0" u="none" strike="noStrike" cap="none">
                <a:solidFill>
                  <a:srgbClr val="33475B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600" b="0" i="0" u="none" strike="noStrike" cap="none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75B"/>
              </a:buClr>
              <a:buSzPts val="1600"/>
              <a:buFont typeface="Avenir"/>
              <a:buChar char="➔"/>
            </a:pPr>
            <a:r>
              <a:rPr lang="es" sz="1600" b="0" i="0" u="none" strike="noStrike" cap="none">
                <a:solidFill>
                  <a:srgbClr val="33475B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600" b="0" i="0" u="none" strike="noStrike" cap="none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75B"/>
              </a:buClr>
              <a:buSzPts val="1600"/>
              <a:buFont typeface="Avenir"/>
              <a:buChar char="➔"/>
            </a:pPr>
            <a:r>
              <a:rPr lang="es" sz="1600" b="0" i="0" u="none" strike="noStrike" cap="none">
                <a:solidFill>
                  <a:srgbClr val="33475B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600" b="0" i="0" u="none" strike="noStrike" cap="none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75B"/>
              </a:buClr>
              <a:buSzPts val="1600"/>
              <a:buFont typeface="Avenir"/>
              <a:buChar char="➔"/>
            </a:pPr>
            <a:r>
              <a:rPr lang="es" sz="1600" b="0" i="0" u="none" strike="noStrike" cap="none">
                <a:solidFill>
                  <a:srgbClr val="33475B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600" b="0" i="0" u="none" strike="noStrike" cap="none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75B"/>
              </a:buClr>
              <a:buSzPts val="1600"/>
              <a:buFont typeface="Avenir"/>
              <a:buNone/>
            </a:pPr>
            <a:endParaRPr sz="1600" b="0" i="0" u="none" strike="noStrike" cap="none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1" name="Google Shape;201;p26"/>
          <p:cNvSpPr txBox="1"/>
          <p:nvPr/>
        </p:nvSpPr>
        <p:spPr>
          <a:xfrm>
            <a:off x="5315400" y="2835975"/>
            <a:ext cx="3504900" cy="21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Amenazas</a:t>
            </a:r>
            <a:endParaRPr sz="1600" b="1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➔"/>
            </a:pPr>
            <a:r>
              <a:rPr lang="es" sz="1600" b="0" i="0" u="none" strike="noStrike" cap="none">
                <a:solidFill>
                  <a:srgbClr val="33475B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600" b="0" i="0" u="none" strike="noStrike" cap="none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75B"/>
              </a:buClr>
              <a:buSzPts val="1600"/>
              <a:buFont typeface="Avenir"/>
              <a:buChar char="➔"/>
            </a:pPr>
            <a:r>
              <a:rPr lang="es" sz="1600" b="0" i="0" u="none" strike="noStrike" cap="none">
                <a:solidFill>
                  <a:srgbClr val="33475B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600" b="0" i="0" u="none" strike="noStrike" cap="none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75B"/>
              </a:buClr>
              <a:buSzPts val="1600"/>
              <a:buFont typeface="Avenir"/>
              <a:buChar char="➔"/>
            </a:pPr>
            <a:r>
              <a:rPr lang="es" sz="1600" b="0" i="0" u="none" strike="noStrike" cap="none">
                <a:solidFill>
                  <a:srgbClr val="33475B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600" b="0" i="0" u="none" strike="noStrike" cap="none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75B"/>
              </a:buClr>
              <a:buSzPts val="1600"/>
              <a:buFont typeface="Avenir"/>
              <a:buNone/>
            </a:pPr>
            <a:endParaRPr sz="1600" b="0" i="0" u="none" strike="noStrike" cap="none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75B"/>
              </a:buClr>
              <a:buSzPts val="1600"/>
              <a:buFont typeface="Avenir"/>
              <a:buChar char="➔"/>
            </a:pPr>
            <a:r>
              <a:rPr lang="es" sz="1600" b="0" i="0" u="none" strike="noStrike" cap="none">
                <a:solidFill>
                  <a:srgbClr val="33475B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600" b="0" i="0" u="none" strike="noStrike" cap="none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2" name="Google Shape;202;p26"/>
          <p:cNvSpPr txBox="1">
            <a:spLocks noGrp="1"/>
          </p:cNvSpPr>
          <p:nvPr>
            <p:ph type="body" idx="4294967295"/>
          </p:nvPr>
        </p:nvSpPr>
        <p:spPr>
          <a:xfrm>
            <a:off x="1695450" y="-35475"/>
            <a:ext cx="5753100" cy="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3200">
                <a:solidFill>
                  <a:srgbClr val="4D5156"/>
                </a:solidFill>
                <a:latin typeface="Avenir"/>
                <a:ea typeface="Avenir"/>
                <a:cs typeface="Avenir"/>
                <a:sym typeface="Avenir"/>
              </a:rPr>
              <a:t>«Nombre personal»</a:t>
            </a:r>
            <a:endParaRPr sz="3200" b="1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sz="4300" b="1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03" name="Google Shape;203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28600" y="1828350"/>
            <a:ext cx="1486800" cy="148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 txBox="1"/>
          <p:nvPr/>
        </p:nvSpPr>
        <p:spPr>
          <a:xfrm>
            <a:off x="5257800" y="0"/>
            <a:ext cx="3886200" cy="17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" sz="2200" b="1" i="0" u="none" strike="noStrike" cap="none">
                <a:solidFill>
                  <a:srgbClr val="33475B"/>
                </a:solidFill>
                <a:latin typeface="Avenir"/>
                <a:ea typeface="Avenir"/>
                <a:cs typeface="Avenir"/>
                <a:sym typeface="Avenir"/>
              </a:rPr>
              <a:t>4. Amenazas</a:t>
            </a:r>
            <a:endParaRPr sz="2200" b="1" i="0" u="none" strike="noStrike" cap="none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Char char="●"/>
            </a:pPr>
            <a:r>
              <a:rPr lang="es" sz="15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Char char="●"/>
            </a:pPr>
            <a:r>
              <a:rPr lang="es" sz="15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Char char="●"/>
            </a:pPr>
            <a:r>
              <a:rPr lang="es" sz="15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Char char="●"/>
            </a:pPr>
            <a:r>
              <a:rPr lang="es" sz="15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None/>
            </a:pP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9" name="Google Shape;209;p27"/>
          <p:cNvSpPr txBox="1"/>
          <p:nvPr/>
        </p:nvSpPr>
        <p:spPr>
          <a:xfrm>
            <a:off x="0" y="0"/>
            <a:ext cx="3886200" cy="17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" sz="2200" b="1" i="0" u="none" strike="noStrike" cap="none">
                <a:solidFill>
                  <a:srgbClr val="33475B"/>
                </a:solidFill>
                <a:latin typeface="Avenir"/>
                <a:ea typeface="Avenir"/>
                <a:cs typeface="Avenir"/>
                <a:sym typeface="Avenir"/>
              </a:rPr>
              <a:t>3. Oportunidades</a:t>
            </a:r>
            <a:endParaRPr sz="2200" b="1" i="0" u="none" strike="noStrike" cap="none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1" i="0" u="none" strike="noStrike" cap="none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75B"/>
              </a:buClr>
              <a:buSzPts val="1500"/>
              <a:buFont typeface="Avenir"/>
              <a:buChar char="●"/>
            </a:pPr>
            <a:r>
              <a:rPr lang="es" sz="1500" b="0" i="0" u="none" strike="noStrike" cap="none">
                <a:solidFill>
                  <a:srgbClr val="33475B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500" b="0" i="0" u="none" strike="noStrike" cap="none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75B"/>
              </a:buClr>
              <a:buSzPts val="1500"/>
              <a:buFont typeface="Avenir"/>
              <a:buChar char="●"/>
            </a:pPr>
            <a:r>
              <a:rPr lang="es" sz="1500" b="0" i="0" u="none" strike="noStrike" cap="none">
                <a:solidFill>
                  <a:srgbClr val="33475B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500" b="0" i="0" u="none" strike="noStrike" cap="none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75B"/>
              </a:buClr>
              <a:buSzPts val="1500"/>
              <a:buFont typeface="Avenir"/>
              <a:buChar char="●"/>
            </a:pPr>
            <a:r>
              <a:rPr lang="es" sz="1500" b="0" i="0" u="none" strike="noStrike" cap="none">
                <a:solidFill>
                  <a:srgbClr val="33475B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500" b="0" i="0" u="none" strike="noStrike" cap="none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75B"/>
              </a:buClr>
              <a:buSzPts val="1500"/>
              <a:buFont typeface="Avenir"/>
              <a:buChar char="●"/>
            </a:pPr>
            <a:r>
              <a:rPr lang="es" sz="1500" b="0" i="0" u="none" strike="noStrike" cap="none">
                <a:solidFill>
                  <a:srgbClr val="33475B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500" b="0" i="0" u="none" strike="noStrike" cap="none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75B"/>
              </a:buClr>
              <a:buSzPts val="1500"/>
              <a:buFont typeface="Avenir"/>
              <a:buNone/>
            </a:pPr>
            <a:endParaRPr sz="1500" b="0" i="0" u="none" strike="noStrike" cap="none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10" name="Google Shape;210;p27"/>
          <p:cNvSpPr txBox="1"/>
          <p:nvPr/>
        </p:nvSpPr>
        <p:spPr>
          <a:xfrm>
            <a:off x="0" y="3296575"/>
            <a:ext cx="3886200" cy="17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" sz="2200" b="1" i="0" u="none" strike="noStrike" cap="none">
                <a:solidFill>
                  <a:srgbClr val="33475B"/>
                </a:solidFill>
                <a:latin typeface="Avenir"/>
                <a:ea typeface="Avenir"/>
                <a:cs typeface="Avenir"/>
                <a:sym typeface="Avenir"/>
              </a:rPr>
              <a:t>1. Fortalezas</a:t>
            </a:r>
            <a:endParaRPr sz="2200" b="1" i="0" u="none" strike="noStrike" cap="none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Char char="●"/>
            </a:pPr>
            <a:r>
              <a:rPr lang="es" sz="15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Char char="●"/>
            </a:pPr>
            <a:r>
              <a:rPr lang="es" sz="15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Char char="●"/>
            </a:pPr>
            <a:r>
              <a:rPr lang="es" sz="15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Char char="●"/>
            </a:pPr>
            <a:r>
              <a:rPr lang="es" sz="15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None/>
            </a:pP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11" name="Google Shape;21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7612" y="1916853"/>
            <a:ext cx="928800" cy="928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2" name="Google Shape;212;p27"/>
          <p:cNvGrpSpPr/>
          <p:nvPr/>
        </p:nvGrpSpPr>
        <p:grpSpPr>
          <a:xfrm>
            <a:off x="2817423" y="793350"/>
            <a:ext cx="3509167" cy="3940950"/>
            <a:chOff x="2817423" y="793350"/>
            <a:chExt cx="3509167" cy="3940950"/>
          </a:xfrm>
        </p:grpSpPr>
        <p:grpSp>
          <p:nvGrpSpPr>
            <p:cNvPr id="213" name="Google Shape;213;p27"/>
            <p:cNvGrpSpPr/>
            <p:nvPr/>
          </p:nvGrpSpPr>
          <p:grpSpPr>
            <a:xfrm>
              <a:off x="2817423" y="793350"/>
              <a:ext cx="3509167" cy="3251991"/>
              <a:chOff x="3217473" y="1225350"/>
              <a:chExt cx="3118151" cy="3159727"/>
            </a:xfrm>
          </p:grpSpPr>
          <p:sp>
            <p:nvSpPr>
              <p:cNvPr id="214" name="Google Shape;214;p27"/>
              <p:cNvSpPr/>
              <p:nvPr/>
            </p:nvSpPr>
            <p:spPr>
              <a:xfrm>
                <a:off x="3579175" y="2711400"/>
                <a:ext cx="2396410" cy="971161"/>
              </a:xfrm>
              <a:custGeom>
                <a:avLst/>
                <a:gdLst/>
                <a:ahLst/>
                <a:cxnLst/>
                <a:rect l="l" t="t" r="r" b="b"/>
                <a:pathLst>
                  <a:path w="39012" h="12970" extrusionOk="0">
                    <a:moveTo>
                      <a:pt x="0" y="5914"/>
                    </a:moveTo>
                    <a:lnTo>
                      <a:pt x="19531" y="12970"/>
                    </a:lnTo>
                    <a:lnTo>
                      <a:pt x="39012" y="5914"/>
                    </a:lnTo>
                    <a:lnTo>
                      <a:pt x="1958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</p:sp>
          <p:sp>
            <p:nvSpPr>
              <p:cNvPr id="215" name="Google Shape;215;p27"/>
              <p:cNvSpPr/>
              <p:nvPr/>
            </p:nvSpPr>
            <p:spPr>
              <a:xfrm>
                <a:off x="3730755" y="2527208"/>
                <a:ext cx="2079127" cy="837209"/>
              </a:xfrm>
              <a:custGeom>
                <a:avLst/>
                <a:gdLst/>
                <a:ahLst/>
                <a:cxnLst/>
                <a:rect l="l" t="t" r="r" b="b"/>
                <a:pathLst>
                  <a:path w="49248" h="16300" extrusionOk="0">
                    <a:moveTo>
                      <a:pt x="0" y="7554"/>
                    </a:moveTo>
                    <a:lnTo>
                      <a:pt x="24649" y="16300"/>
                    </a:lnTo>
                    <a:lnTo>
                      <a:pt x="49248" y="7604"/>
                    </a:lnTo>
                    <a:lnTo>
                      <a:pt x="24599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</p:sp>
          <p:sp>
            <p:nvSpPr>
              <p:cNvPr id="216" name="Google Shape;216;p27"/>
              <p:cNvSpPr/>
              <p:nvPr/>
            </p:nvSpPr>
            <p:spPr>
              <a:xfrm>
                <a:off x="3946479" y="2252239"/>
                <a:ext cx="1647477" cy="663383"/>
              </a:xfrm>
              <a:custGeom>
                <a:avLst/>
                <a:gdLst/>
                <a:ahLst/>
                <a:cxnLst/>
                <a:rect l="l" t="t" r="r" b="b"/>
                <a:pathLst>
                  <a:path w="39012" h="12970" extrusionOk="0">
                    <a:moveTo>
                      <a:pt x="0" y="5914"/>
                    </a:moveTo>
                    <a:lnTo>
                      <a:pt x="19531" y="12970"/>
                    </a:lnTo>
                    <a:lnTo>
                      <a:pt x="39012" y="5914"/>
                    </a:lnTo>
                    <a:lnTo>
                      <a:pt x="1958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</p:sp>
          <p:sp>
            <p:nvSpPr>
              <p:cNvPr id="217" name="Google Shape;217;p27"/>
              <p:cNvSpPr/>
              <p:nvPr/>
            </p:nvSpPr>
            <p:spPr>
              <a:xfrm>
                <a:off x="4265445" y="1828277"/>
                <a:ext cx="1014014" cy="416547"/>
              </a:xfrm>
              <a:custGeom>
                <a:avLst/>
                <a:gdLst/>
                <a:ahLst/>
                <a:cxnLst/>
                <a:rect l="l" t="t" r="r" b="b"/>
                <a:pathLst>
                  <a:path w="24053" h="8150" extrusionOk="0">
                    <a:moveTo>
                      <a:pt x="0" y="3827"/>
                    </a:moveTo>
                    <a:lnTo>
                      <a:pt x="11976" y="8150"/>
                    </a:lnTo>
                    <a:lnTo>
                      <a:pt x="24053" y="3827"/>
                    </a:lnTo>
                    <a:lnTo>
                      <a:pt x="12126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</p:sp>
          <p:sp>
            <p:nvSpPr>
              <p:cNvPr id="218" name="Google Shape;218;p27"/>
              <p:cNvSpPr/>
              <p:nvPr/>
            </p:nvSpPr>
            <p:spPr>
              <a:xfrm>
                <a:off x="3217473" y="3154705"/>
                <a:ext cx="1559116" cy="1230372"/>
              </a:xfrm>
              <a:custGeom>
                <a:avLst/>
                <a:gdLst/>
                <a:ahLst/>
                <a:cxnLst/>
                <a:rect l="l" t="t" r="r" b="b"/>
                <a:pathLst>
                  <a:path w="31954" h="20822" extrusionOk="0">
                    <a:moveTo>
                      <a:pt x="7355" y="0"/>
                    </a:moveTo>
                    <a:lnTo>
                      <a:pt x="31954" y="8796"/>
                    </a:lnTo>
                    <a:lnTo>
                      <a:pt x="31954" y="20822"/>
                    </a:lnTo>
                    <a:lnTo>
                      <a:pt x="0" y="8895"/>
                    </a:lnTo>
                    <a:close/>
                  </a:path>
                </a:pathLst>
              </a:custGeom>
              <a:solidFill>
                <a:srgbClr val="E66E50"/>
              </a:solidFill>
              <a:ln>
                <a:noFill/>
              </a:ln>
            </p:spPr>
          </p:sp>
          <p:sp>
            <p:nvSpPr>
              <p:cNvPr id="219" name="Google Shape;219;p27"/>
              <p:cNvSpPr/>
              <p:nvPr/>
            </p:nvSpPr>
            <p:spPr>
              <a:xfrm>
                <a:off x="3790596" y="2554725"/>
                <a:ext cx="982143" cy="653205"/>
              </a:xfrm>
              <a:custGeom>
                <a:avLst/>
                <a:gdLst/>
                <a:ahLst/>
                <a:cxnLst/>
                <a:rect l="l" t="t" r="r" b="b"/>
                <a:pathLst>
                  <a:path w="23257" h="12771" extrusionOk="0">
                    <a:moveTo>
                      <a:pt x="3727" y="0"/>
                    </a:moveTo>
                    <a:lnTo>
                      <a:pt x="0" y="4522"/>
                    </a:lnTo>
                    <a:lnTo>
                      <a:pt x="23257" y="12771"/>
                    </a:lnTo>
                    <a:lnTo>
                      <a:pt x="23257" y="7056"/>
                    </a:lnTo>
                    <a:close/>
                  </a:path>
                </a:pathLst>
              </a:custGeom>
              <a:gradFill>
                <a:gsLst>
                  <a:gs pos="0">
                    <a:srgbClr val="FFCA37"/>
                  </a:gs>
                  <a:gs pos="100000">
                    <a:srgbClr val="AD8107"/>
                  </a:gs>
                </a:gsLst>
                <a:lin ang="5400012" scaled="0"/>
              </a:gradFill>
              <a:ln>
                <a:noFill/>
              </a:ln>
            </p:spPr>
          </p:sp>
          <p:sp>
            <p:nvSpPr>
              <p:cNvPr id="220" name="Google Shape;220;p27"/>
              <p:cNvSpPr/>
              <p:nvPr/>
            </p:nvSpPr>
            <p:spPr>
              <a:xfrm flipH="1">
                <a:off x="4770690" y="2554725"/>
                <a:ext cx="982143" cy="653205"/>
              </a:xfrm>
              <a:custGeom>
                <a:avLst/>
                <a:gdLst/>
                <a:ahLst/>
                <a:cxnLst/>
                <a:rect l="l" t="t" r="r" b="b"/>
                <a:pathLst>
                  <a:path w="23257" h="12771" extrusionOk="0">
                    <a:moveTo>
                      <a:pt x="3727" y="0"/>
                    </a:moveTo>
                    <a:lnTo>
                      <a:pt x="0" y="4522"/>
                    </a:lnTo>
                    <a:lnTo>
                      <a:pt x="23257" y="12771"/>
                    </a:lnTo>
                    <a:lnTo>
                      <a:pt x="23257" y="7056"/>
                    </a:lnTo>
                    <a:close/>
                  </a:path>
                </a:pathLst>
              </a:custGeom>
              <a:solidFill>
                <a:srgbClr val="F4B400"/>
              </a:solidFill>
              <a:ln>
                <a:noFill/>
              </a:ln>
            </p:spPr>
          </p:sp>
          <p:sp>
            <p:nvSpPr>
              <p:cNvPr id="221" name="Google Shape;221;p27"/>
              <p:cNvSpPr/>
              <p:nvPr/>
            </p:nvSpPr>
            <p:spPr>
              <a:xfrm>
                <a:off x="4002555" y="2023456"/>
                <a:ext cx="770191" cy="721896"/>
              </a:xfrm>
              <a:custGeom>
                <a:avLst/>
                <a:gdLst/>
                <a:ahLst/>
                <a:cxnLst/>
                <a:rect l="l" t="t" r="r" b="b"/>
                <a:pathLst>
                  <a:path w="18238" h="14114" extrusionOk="0">
                    <a:moveTo>
                      <a:pt x="6262" y="0"/>
                    </a:moveTo>
                    <a:lnTo>
                      <a:pt x="18238" y="4324"/>
                    </a:lnTo>
                    <a:lnTo>
                      <a:pt x="18238" y="14114"/>
                    </a:lnTo>
                    <a:lnTo>
                      <a:pt x="0" y="7554"/>
                    </a:lnTo>
                    <a:close/>
                  </a:path>
                </a:pathLst>
              </a:custGeom>
              <a:solidFill>
                <a:srgbClr val="E68250"/>
              </a:solidFill>
              <a:ln>
                <a:noFill/>
              </a:ln>
            </p:spPr>
          </p:sp>
          <p:sp>
            <p:nvSpPr>
              <p:cNvPr id="222" name="Google Shape;222;p27"/>
              <p:cNvSpPr/>
              <p:nvPr/>
            </p:nvSpPr>
            <p:spPr>
              <a:xfrm flipH="1">
                <a:off x="4770683" y="2023456"/>
                <a:ext cx="770191" cy="721896"/>
              </a:xfrm>
              <a:custGeom>
                <a:avLst/>
                <a:gdLst/>
                <a:ahLst/>
                <a:cxnLst/>
                <a:rect l="l" t="t" r="r" b="b"/>
                <a:pathLst>
                  <a:path w="18238" h="14114" extrusionOk="0">
                    <a:moveTo>
                      <a:pt x="6262" y="0"/>
                    </a:moveTo>
                    <a:lnTo>
                      <a:pt x="18238" y="4324"/>
                    </a:lnTo>
                    <a:lnTo>
                      <a:pt x="18238" y="14114"/>
                    </a:lnTo>
                    <a:lnTo>
                      <a:pt x="0" y="7554"/>
                    </a:lnTo>
                    <a:close/>
                  </a:path>
                </a:pathLst>
              </a:custGeom>
              <a:solidFill>
                <a:srgbClr val="FF8F59"/>
              </a:solidFill>
              <a:ln>
                <a:noFill/>
              </a:ln>
            </p:spPr>
          </p:sp>
          <p:sp>
            <p:nvSpPr>
              <p:cNvPr id="223" name="Google Shape;223;p27"/>
              <p:cNvSpPr/>
              <p:nvPr/>
            </p:nvSpPr>
            <p:spPr>
              <a:xfrm>
                <a:off x="4323640" y="1225350"/>
                <a:ext cx="449116" cy="854010"/>
              </a:xfrm>
              <a:custGeom>
                <a:avLst/>
                <a:gdLst/>
                <a:ahLst/>
                <a:cxnLst/>
                <a:rect l="l" t="t" r="r" b="b"/>
                <a:pathLst>
                  <a:path w="10635" h="16697" extrusionOk="0">
                    <a:moveTo>
                      <a:pt x="10635" y="0"/>
                    </a:moveTo>
                    <a:lnTo>
                      <a:pt x="0" y="12722"/>
                    </a:lnTo>
                    <a:lnTo>
                      <a:pt x="10635" y="16697"/>
                    </a:lnTo>
                    <a:close/>
                  </a:path>
                </a:pathLst>
              </a:custGeom>
              <a:solidFill>
                <a:srgbClr val="DBAE60"/>
              </a:solidFill>
              <a:ln>
                <a:noFill/>
              </a:ln>
            </p:spPr>
          </p:sp>
          <p:sp>
            <p:nvSpPr>
              <p:cNvPr id="224" name="Google Shape;224;p27"/>
              <p:cNvSpPr/>
              <p:nvPr/>
            </p:nvSpPr>
            <p:spPr>
              <a:xfrm flipH="1">
                <a:off x="4770673" y="1225350"/>
                <a:ext cx="449116" cy="854010"/>
              </a:xfrm>
              <a:custGeom>
                <a:avLst/>
                <a:gdLst/>
                <a:ahLst/>
                <a:cxnLst/>
                <a:rect l="l" t="t" r="r" b="b"/>
                <a:pathLst>
                  <a:path w="10635" h="16697" extrusionOk="0">
                    <a:moveTo>
                      <a:pt x="10635" y="0"/>
                    </a:moveTo>
                    <a:lnTo>
                      <a:pt x="0" y="12722"/>
                    </a:lnTo>
                    <a:lnTo>
                      <a:pt x="10635" y="16697"/>
                    </a:lnTo>
                    <a:close/>
                  </a:path>
                </a:pathLst>
              </a:custGeom>
              <a:solidFill>
                <a:srgbClr val="F5C26B"/>
              </a:solidFill>
              <a:ln>
                <a:noFill/>
              </a:ln>
            </p:spPr>
          </p:sp>
          <p:sp>
            <p:nvSpPr>
              <p:cNvPr id="225" name="Google Shape;225;p27"/>
              <p:cNvSpPr/>
              <p:nvPr/>
            </p:nvSpPr>
            <p:spPr>
              <a:xfrm>
                <a:off x="3636034" y="2553603"/>
                <a:ext cx="1136642" cy="946913"/>
              </a:xfrm>
              <a:custGeom>
                <a:avLst/>
                <a:gdLst/>
                <a:ahLst/>
                <a:cxnLst/>
                <a:rect l="l" t="t" r="r" b="b"/>
                <a:pathLst>
                  <a:path w="65016" h="46623" extrusionOk="0">
                    <a:moveTo>
                      <a:pt x="17858" y="0"/>
                    </a:moveTo>
                    <a:lnTo>
                      <a:pt x="0" y="22135"/>
                    </a:lnTo>
                    <a:lnTo>
                      <a:pt x="65016" y="46623"/>
                    </a:lnTo>
                    <a:lnTo>
                      <a:pt x="65016" y="17537"/>
                    </a:lnTo>
                    <a:close/>
                  </a:path>
                </a:pathLst>
              </a:custGeom>
              <a:solidFill>
                <a:srgbClr val="D94C53"/>
              </a:solidFill>
              <a:ln>
                <a:noFill/>
              </a:ln>
            </p:spPr>
          </p:sp>
          <p:sp>
            <p:nvSpPr>
              <p:cNvPr id="226" name="Google Shape;226;p27"/>
              <p:cNvSpPr/>
              <p:nvPr/>
            </p:nvSpPr>
            <p:spPr>
              <a:xfrm flipH="1">
                <a:off x="4776588" y="2553612"/>
                <a:ext cx="1136642" cy="946913"/>
              </a:xfrm>
              <a:custGeom>
                <a:avLst/>
                <a:gdLst/>
                <a:ahLst/>
                <a:cxnLst/>
                <a:rect l="l" t="t" r="r" b="b"/>
                <a:pathLst>
                  <a:path w="65016" h="46623" extrusionOk="0">
                    <a:moveTo>
                      <a:pt x="17858" y="0"/>
                    </a:moveTo>
                    <a:lnTo>
                      <a:pt x="0" y="22135"/>
                    </a:lnTo>
                    <a:lnTo>
                      <a:pt x="65016" y="46623"/>
                    </a:lnTo>
                    <a:lnTo>
                      <a:pt x="65016" y="17537"/>
                    </a:lnTo>
                    <a:close/>
                  </a:path>
                </a:pathLst>
              </a:custGeom>
              <a:solidFill>
                <a:srgbClr val="F2545B"/>
              </a:solidFill>
              <a:ln>
                <a:noFill/>
              </a:ln>
            </p:spPr>
          </p:sp>
          <p:sp>
            <p:nvSpPr>
              <p:cNvPr id="227" name="Google Shape;227;p27"/>
              <p:cNvSpPr/>
              <p:nvPr/>
            </p:nvSpPr>
            <p:spPr>
              <a:xfrm flipH="1">
                <a:off x="4776508" y="3154705"/>
                <a:ext cx="1559116" cy="1230372"/>
              </a:xfrm>
              <a:custGeom>
                <a:avLst/>
                <a:gdLst/>
                <a:ahLst/>
                <a:cxnLst/>
                <a:rect l="l" t="t" r="r" b="b"/>
                <a:pathLst>
                  <a:path w="31954" h="20822" extrusionOk="0">
                    <a:moveTo>
                      <a:pt x="7355" y="0"/>
                    </a:moveTo>
                    <a:lnTo>
                      <a:pt x="31954" y="8796"/>
                    </a:lnTo>
                    <a:lnTo>
                      <a:pt x="31954" y="20822"/>
                    </a:lnTo>
                    <a:lnTo>
                      <a:pt x="0" y="8895"/>
                    </a:lnTo>
                    <a:close/>
                  </a:path>
                </a:pathLst>
              </a:custGeom>
              <a:solidFill>
                <a:srgbClr val="FF7A59"/>
              </a:solidFill>
              <a:ln>
                <a:noFill/>
              </a:ln>
              <a:effectLst>
                <a:reflection stA="20000" endPos="30000" dist="38100" dir="5400000" fadeDir="5400012" sy="-100000" algn="bl" rotWithShape="0"/>
              </a:effectLst>
            </p:spPr>
          </p:sp>
        </p:grpSp>
        <p:sp>
          <p:nvSpPr>
            <p:cNvPr id="228" name="Google Shape;228;p27"/>
            <p:cNvSpPr/>
            <p:nvPr/>
          </p:nvSpPr>
          <p:spPr>
            <a:xfrm>
              <a:off x="4076700" y="4076700"/>
              <a:ext cx="1390800" cy="657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29" name="Google Shape;229;p27"/>
          <p:cNvCxnSpPr/>
          <p:nvPr/>
        </p:nvCxnSpPr>
        <p:spPr>
          <a:xfrm rot="10800000">
            <a:off x="5808900" y="2376000"/>
            <a:ext cx="1087200" cy="1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0" name="Google Shape;230;p27"/>
          <p:cNvCxnSpPr/>
          <p:nvPr/>
        </p:nvCxnSpPr>
        <p:spPr>
          <a:xfrm rot="10800000">
            <a:off x="1302300" y="3068400"/>
            <a:ext cx="1555200" cy="1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1" name="Google Shape;231;p27"/>
          <p:cNvCxnSpPr/>
          <p:nvPr/>
        </p:nvCxnSpPr>
        <p:spPr>
          <a:xfrm flipH="1">
            <a:off x="2705100" y="1812600"/>
            <a:ext cx="1066800" cy="1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2" name="Google Shape;232;p27"/>
          <p:cNvCxnSpPr/>
          <p:nvPr/>
        </p:nvCxnSpPr>
        <p:spPr>
          <a:xfrm rot="10800000">
            <a:off x="3771900" y="996975"/>
            <a:ext cx="457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3" name="Google Shape;233;p27"/>
          <p:cNvSpPr txBox="1"/>
          <p:nvPr/>
        </p:nvSpPr>
        <p:spPr>
          <a:xfrm>
            <a:off x="5181600" y="3197700"/>
            <a:ext cx="3886200" cy="17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" sz="2200" b="1" i="0" u="none" strike="noStrike" cap="none">
                <a:solidFill>
                  <a:srgbClr val="33475B"/>
                </a:solidFill>
                <a:latin typeface="Avenir"/>
                <a:ea typeface="Avenir"/>
                <a:cs typeface="Avenir"/>
                <a:sym typeface="Avenir"/>
              </a:rPr>
              <a:t>2. </a:t>
            </a:r>
            <a:r>
              <a:rPr lang="es" sz="2200" b="1" i="0" u="none" strike="noStrike" cap="none">
                <a:solidFill>
                  <a:srgbClr val="4D5156"/>
                </a:solidFill>
                <a:latin typeface="Avenir"/>
                <a:ea typeface="Avenir"/>
                <a:cs typeface="Avenir"/>
                <a:sym typeface="Avenir"/>
              </a:rPr>
              <a:t>Debilidades</a:t>
            </a:r>
            <a:endParaRPr sz="2200" b="1" i="0" u="none" strike="noStrike" cap="none">
              <a:solidFill>
                <a:srgbClr val="4D5156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Char char="●"/>
            </a:pPr>
            <a:r>
              <a:rPr lang="es" sz="15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Char char="●"/>
            </a:pPr>
            <a:r>
              <a:rPr lang="es" sz="15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Char char="●"/>
            </a:pPr>
            <a:r>
              <a:rPr lang="es" sz="15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Char char="●"/>
            </a:pPr>
            <a:r>
              <a:rPr lang="es" sz="15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None/>
            </a:pP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34" name="Google Shape;234;p27"/>
          <p:cNvSpPr/>
          <p:nvPr/>
        </p:nvSpPr>
        <p:spPr>
          <a:xfrm>
            <a:off x="669600" y="2917050"/>
            <a:ext cx="320400" cy="320400"/>
          </a:xfrm>
          <a:prstGeom prst="ellipse">
            <a:avLst/>
          </a:prstGeom>
          <a:solidFill>
            <a:srgbClr val="FFF1E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0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 sz="10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35" name="Google Shape;235;p27"/>
          <p:cNvSpPr/>
          <p:nvPr/>
        </p:nvSpPr>
        <p:spPr>
          <a:xfrm>
            <a:off x="7219950" y="2221050"/>
            <a:ext cx="320400" cy="320400"/>
          </a:xfrm>
          <a:prstGeom prst="ellipse">
            <a:avLst/>
          </a:prstGeom>
          <a:solidFill>
            <a:srgbClr val="FDEDE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0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 sz="10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36" name="Google Shape;236;p27"/>
          <p:cNvSpPr/>
          <p:nvPr/>
        </p:nvSpPr>
        <p:spPr>
          <a:xfrm>
            <a:off x="1919700" y="1660500"/>
            <a:ext cx="320400" cy="320400"/>
          </a:xfrm>
          <a:prstGeom prst="ellipse">
            <a:avLst/>
          </a:prstGeom>
          <a:solidFill>
            <a:srgbClr val="FFF3E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0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sz="10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37" name="Google Shape;237;p27"/>
          <p:cNvSpPr/>
          <p:nvPr/>
        </p:nvSpPr>
        <p:spPr>
          <a:xfrm>
            <a:off x="3276600" y="836775"/>
            <a:ext cx="320400" cy="320400"/>
          </a:xfrm>
          <a:prstGeom prst="ellipse">
            <a:avLst/>
          </a:prstGeom>
          <a:solidFill>
            <a:srgbClr val="FEF8F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0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4</a:t>
            </a:r>
            <a:endParaRPr sz="10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38" name="Google Shape;238;p27"/>
          <p:cNvSpPr txBox="1">
            <a:spLocks noGrp="1"/>
          </p:cNvSpPr>
          <p:nvPr>
            <p:ph type="body" idx="4294967295"/>
          </p:nvPr>
        </p:nvSpPr>
        <p:spPr>
          <a:xfrm>
            <a:off x="2419350" y="-84600"/>
            <a:ext cx="4648200" cy="695100"/>
          </a:xfrm>
          <a:prstGeom prst="rect">
            <a:avLst/>
          </a:prstGeom>
          <a:noFill/>
          <a:ln w="9525" cap="flat" cmpd="sng">
            <a:solidFill>
              <a:srgbClr val="00A4B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s" sz="3200">
                <a:solidFill>
                  <a:srgbClr val="4D5156"/>
                </a:solidFill>
                <a:latin typeface="Avenir"/>
                <a:ea typeface="Avenir"/>
                <a:cs typeface="Avenir"/>
                <a:sym typeface="Avenir"/>
              </a:rPr>
              <a:t>«Nombre personal»</a:t>
            </a:r>
            <a:endParaRPr sz="3200" b="1">
              <a:solidFill>
                <a:srgbClr val="33475B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239" name="Google Shape;239;p27"/>
          <p:cNvCxnSpPr/>
          <p:nvPr/>
        </p:nvCxnSpPr>
        <p:spPr>
          <a:xfrm rot="10800000" flipH="1">
            <a:off x="9067800" y="1980900"/>
            <a:ext cx="3391200" cy="10800"/>
          </a:xfrm>
          <a:prstGeom prst="straightConnector1">
            <a:avLst/>
          </a:prstGeom>
          <a:noFill/>
          <a:ln w="38100" cap="flat" cmpd="sng">
            <a:solidFill>
              <a:srgbClr val="F2545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0" name="Google Shape;240;p27"/>
          <p:cNvCxnSpPr/>
          <p:nvPr/>
        </p:nvCxnSpPr>
        <p:spPr>
          <a:xfrm rot="10800000" flipH="1">
            <a:off x="3597000" y="-1327800"/>
            <a:ext cx="252000" cy="3600"/>
          </a:xfrm>
          <a:prstGeom prst="straightConnector1">
            <a:avLst/>
          </a:prstGeom>
          <a:noFill/>
          <a:ln w="38100" cap="flat" cmpd="sng">
            <a:solidFill>
              <a:srgbClr val="F2545B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475B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8"/>
          <p:cNvSpPr/>
          <p:nvPr/>
        </p:nvSpPr>
        <p:spPr>
          <a:xfrm>
            <a:off x="2757741" y="619359"/>
            <a:ext cx="3879300" cy="3879300"/>
          </a:xfrm>
          <a:prstGeom prst="ellipse">
            <a:avLst/>
          </a:prstGeom>
          <a:solidFill>
            <a:srgbClr val="00A4B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6" name="Google Shape;246;p28"/>
          <p:cNvGrpSpPr/>
          <p:nvPr/>
        </p:nvGrpSpPr>
        <p:grpSpPr>
          <a:xfrm>
            <a:off x="3614360" y="410488"/>
            <a:ext cx="2178000" cy="2286000"/>
            <a:chOff x="3614360" y="410488"/>
            <a:chExt cx="2178000" cy="2286000"/>
          </a:xfrm>
        </p:grpSpPr>
        <p:sp>
          <p:nvSpPr>
            <p:cNvPr id="247" name="Google Shape;247;p28"/>
            <p:cNvSpPr/>
            <p:nvPr/>
          </p:nvSpPr>
          <p:spPr>
            <a:xfrm>
              <a:off x="3614360" y="410488"/>
              <a:ext cx="2178000" cy="2286000"/>
            </a:xfrm>
            <a:prstGeom prst="ellipse">
              <a:avLst/>
            </a:prstGeom>
            <a:solidFill>
              <a:srgbClr val="F254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8"/>
            <p:cNvSpPr txBox="1"/>
            <p:nvPr/>
          </p:nvSpPr>
          <p:spPr>
            <a:xfrm>
              <a:off x="3771900" y="924350"/>
              <a:ext cx="1856100" cy="702900"/>
            </a:xfrm>
            <a:prstGeom prst="rect">
              <a:avLst/>
            </a:prstGeom>
            <a:solidFill>
              <a:srgbClr val="F254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" sz="2200" b="1" i="0" u="none" strike="noStrike" cap="non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Debilidades</a:t>
              </a:r>
              <a:endParaRPr sz="2200" b="0" i="0" u="none" strike="noStrike" cap="non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249" name="Google Shape;249;p28"/>
          <p:cNvGrpSpPr/>
          <p:nvPr/>
        </p:nvGrpSpPr>
        <p:grpSpPr>
          <a:xfrm>
            <a:off x="2518438" y="1493844"/>
            <a:ext cx="2128961" cy="2285996"/>
            <a:chOff x="2519466" y="1493908"/>
            <a:chExt cx="2166000" cy="2166000"/>
          </a:xfrm>
        </p:grpSpPr>
        <p:sp>
          <p:nvSpPr>
            <p:cNvPr id="250" name="Google Shape;250;p28"/>
            <p:cNvSpPr/>
            <p:nvPr/>
          </p:nvSpPr>
          <p:spPr>
            <a:xfrm>
              <a:off x="2519466" y="1493908"/>
              <a:ext cx="2166000" cy="2166000"/>
            </a:xfrm>
            <a:prstGeom prst="ellipse">
              <a:avLst/>
            </a:prstGeom>
            <a:solidFill>
              <a:srgbClr val="6A78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8"/>
            <p:cNvSpPr txBox="1"/>
            <p:nvPr/>
          </p:nvSpPr>
          <p:spPr>
            <a:xfrm>
              <a:off x="2607890" y="2232093"/>
              <a:ext cx="1558800" cy="702900"/>
            </a:xfrm>
            <a:prstGeom prst="rect">
              <a:avLst/>
            </a:prstGeom>
            <a:solidFill>
              <a:srgbClr val="6A78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s" sz="2200" b="1" i="0" u="none" strike="noStrike" cap="none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Fortalezas</a:t>
              </a:r>
              <a:endParaRPr sz="2200" b="1" i="0" u="none" strike="noStrike" cap="non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252" name="Google Shape;252;p28"/>
          <p:cNvSpPr/>
          <p:nvPr/>
        </p:nvSpPr>
        <p:spPr>
          <a:xfrm>
            <a:off x="3626698" y="2571752"/>
            <a:ext cx="2176500" cy="2084100"/>
          </a:xfrm>
          <a:prstGeom prst="ellipse">
            <a:avLst/>
          </a:prstGeom>
          <a:solidFill>
            <a:srgbClr val="DBA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3" name="Google Shape;253;p28"/>
          <p:cNvGrpSpPr/>
          <p:nvPr/>
        </p:nvGrpSpPr>
        <p:grpSpPr>
          <a:xfrm>
            <a:off x="4701565" y="1493795"/>
            <a:ext cx="2177913" cy="2285996"/>
            <a:chOff x="4701894" y="1493874"/>
            <a:chExt cx="2166000" cy="2166000"/>
          </a:xfrm>
        </p:grpSpPr>
        <p:sp>
          <p:nvSpPr>
            <p:cNvPr id="254" name="Google Shape;254;p28"/>
            <p:cNvSpPr/>
            <p:nvPr/>
          </p:nvSpPr>
          <p:spPr>
            <a:xfrm>
              <a:off x="4701894" y="1493874"/>
              <a:ext cx="2166000" cy="2166000"/>
            </a:xfrm>
            <a:prstGeom prst="ellipse">
              <a:avLst/>
            </a:prstGeom>
            <a:solidFill>
              <a:srgbClr val="00B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8"/>
            <p:cNvSpPr txBox="1"/>
            <p:nvPr/>
          </p:nvSpPr>
          <p:spPr>
            <a:xfrm>
              <a:off x="5295271" y="2220300"/>
              <a:ext cx="1496100" cy="702900"/>
            </a:xfrm>
            <a:prstGeom prst="rect">
              <a:avLst/>
            </a:prstGeom>
            <a:solidFill>
              <a:srgbClr val="00B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s" sz="2200" b="1" i="0" u="none" strike="noStrike" cap="none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Amenazas</a:t>
              </a:r>
              <a:endParaRPr sz="2200" b="1" i="0" u="none" strike="noStrike" cap="non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256" name="Google Shape;256;p28"/>
          <p:cNvSpPr/>
          <p:nvPr/>
        </p:nvSpPr>
        <p:spPr>
          <a:xfrm>
            <a:off x="4084680" y="1946241"/>
            <a:ext cx="1225800" cy="1225800"/>
          </a:xfrm>
          <a:prstGeom prst="ellipse">
            <a:avLst/>
          </a:prstGeom>
          <a:solidFill>
            <a:srgbClr val="EDA2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8"/>
          <p:cNvSpPr txBox="1"/>
          <p:nvPr/>
        </p:nvSpPr>
        <p:spPr>
          <a:xfrm>
            <a:off x="329450" y="103350"/>
            <a:ext cx="2685900" cy="1314300"/>
          </a:xfrm>
          <a:prstGeom prst="rect">
            <a:avLst/>
          </a:prstGeom>
          <a:solidFill>
            <a:srgbClr val="B4BBE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AutoNum type="arabicPeriod"/>
            </a:pPr>
            <a:r>
              <a:rPr lang="es" sz="14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AutoNum type="arabicPeriod"/>
            </a:pPr>
            <a:r>
              <a:rPr lang="es" sz="14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AutoNum type="arabicPeriod"/>
            </a:pPr>
            <a:r>
              <a:rPr lang="es" sz="14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AutoNum type="arabicPeriod"/>
            </a:pPr>
            <a:r>
              <a:rPr lang="es" sz="14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endParaRPr sz="14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58" name="Google Shape;258;p28"/>
          <p:cNvSpPr txBox="1"/>
          <p:nvPr/>
        </p:nvSpPr>
        <p:spPr>
          <a:xfrm>
            <a:off x="428850" y="3722625"/>
            <a:ext cx="2685900" cy="1314300"/>
          </a:xfrm>
          <a:prstGeom prst="rect">
            <a:avLst/>
          </a:prstGeom>
          <a:solidFill>
            <a:srgbClr val="F5C26B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AutoNum type="arabicPeriod"/>
            </a:pPr>
            <a:r>
              <a:rPr lang="es" sz="1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4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AutoNum type="arabicPeriod"/>
            </a:pPr>
            <a:r>
              <a:rPr lang="es" sz="1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4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AutoNum type="arabicPeriod"/>
            </a:pPr>
            <a:r>
              <a:rPr lang="es" sz="1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4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AutoNum type="arabicPeriod"/>
            </a:pPr>
            <a:r>
              <a:rPr lang="es" sz="1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4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endParaRPr sz="14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59" name="Google Shape;259;p28"/>
          <p:cNvSpPr txBox="1"/>
          <p:nvPr/>
        </p:nvSpPr>
        <p:spPr>
          <a:xfrm>
            <a:off x="6315150" y="3722625"/>
            <a:ext cx="2685900" cy="1314300"/>
          </a:xfrm>
          <a:prstGeom prst="rect">
            <a:avLst/>
          </a:prstGeom>
          <a:solidFill>
            <a:srgbClr val="7FDED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AutoNum type="arabicPeriod"/>
            </a:pPr>
            <a:r>
              <a:rPr lang="es" sz="1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4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AutoNum type="arabicPeriod"/>
            </a:pPr>
            <a:r>
              <a:rPr lang="es" sz="1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4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AutoNum type="arabicPeriod"/>
            </a:pPr>
            <a:r>
              <a:rPr lang="es" sz="1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4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AutoNum type="arabicPeriod"/>
            </a:pPr>
            <a:r>
              <a:rPr lang="es" sz="1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4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endParaRPr sz="14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60" name="Google Shape;260;p28"/>
          <p:cNvSpPr txBox="1"/>
          <p:nvPr/>
        </p:nvSpPr>
        <p:spPr>
          <a:xfrm>
            <a:off x="6315150" y="103350"/>
            <a:ext cx="2685900" cy="1314300"/>
          </a:xfrm>
          <a:prstGeom prst="rect">
            <a:avLst/>
          </a:prstGeom>
          <a:solidFill>
            <a:srgbClr val="F8A9AD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AutoNum type="arabicPeriod"/>
            </a:pPr>
            <a:r>
              <a:rPr lang="es" sz="1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4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AutoNum type="arabicPeriod"/>
            </a:pPr>
            <a:r>
              <a:rPr lang="es" sz="1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4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AutoNum type="arabicPeriod"/>
            </a:pPr>
            <a:r>
              <a:rPr lang="es" sz="1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4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AutoNum type="arabicPeriod"/>
            </a:pPr>
            <a:r>
              <a:rPr lang="es" sz="1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14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endParaRPr sz="14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61" name="Google Shape;261;p28"/>
          <p:cNvSpPr txBox="1"/>
          <p:nvPr/>
        </p:nvSpPr>
        <p:spPr>
          <a:xfrm>
            <a:off x="3676016" y="3567601"/>
            <a:ext cx="2176500" cy="5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" sz="2100" b="1" i="0" u="none" strike="noStrike" cap="non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Oportunidades</a:t>
            </a:r>
            <a:endParaRPr sz="2100" b="1" i="0" u="none" strike="noStrike" cap="non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62" name="Google Shape;26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5200" y="1947000"/>
            <a:ext cx="1224000" cy="12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</Words>
  <Application>Microsoft Office PowerPoint</Application>
  <PresentationFormat>Presentació en pantalla (16:9)</PresentationFormat>
  <Paragraphs>201</Paragraphs>
  <Slides>16</Slides>
  <Notes>16</Notes>
  <HiddenSlides>0</HiddenSlides>
  <MMClips>0</MMClips>
  <ScaleCrop>false</ScaleCrop>
  <HeadingPairs>
    <vt:vector size="6" baseType="variant">
      <vt:variant>
        <vt:lpstr>Tipus de lletra utilitzats</vt:lpstr>
      </vt:variant>
      <vt:variant>
        <vt:i4>9</vt:i4>
      </vt:variant>
      <vt:variant>
        <vt:lpstr>Tema</vt:lpstr>
      </vt:variant>
      <vt:variant>
        <vt:i4>1</vt:i4>
      </vt:variant>
      <vt:variant>
        <vt:lpstr>Títols de les diapositives</vt:lpstr>
      </vt:variant>
      <vt:variant>
        <vt:i4>16</vt:i4>
      </vt:variant>
    </vt:vector>
  </HeadingPairs>
  <TitlesOfParts>
    <vt:vector size="26" baseType="lpstr">
      <vt:lpstr>Poppins Light</vt:lpstr>
      <vt:lpstr>Poppins</vt:lpstr>
      <vt:lpstr>Arial</vt:lpstr>
      <vt:lpstr>Poppins Medium</vt:lpstr>
      <vt:lpstr>Poppins ExtraBold</vt:lpstr>
      <vt:lpstr>Lora SemiBold</vt:lpstr>
      <vt:lpstr>Montserrat</vt:lpstr>
      <vt:lpstr>Avenir</vt:lpstr>
      <vt:lpstr>Montserrat SemiBold</vt:lpstr>
      <vt:lpstr>Simple Light</vt:lpstr>
      <vt:lpstr>Plantillas para realizar un análisis FODA</vt:lpstr>
      <vt:lpstr>Tabla de contenidos</vt:lpstr>
      <vt:lpstr>Instrucciones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Plantillas para realizar un análisis FODA</dc:title>
  <dc:creator>PORTATIL28</dc:creator>
  <cp:lastModifiedBy>Oriol puig i Carreró</cp:lastModifiedBy>
  <cp:revision>1</cp:revision>
  <dcterms:modified xsi:type="dcterms:W3CDTF">2024-03-08T16:42:36Z</dcterms:modified>
</cp:coreProperties>
</file>