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26275B-9786-48DA-A572-60531DF2A875}" v="2" dt="2024-07-24T07:36:59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ol Calblay" userId="e6c7bcb4eb356115" providerId="LiveId" clId="{9226275B-9786-48DA-A572-60531DF2A875}"/>
    <pc:docChg chg="undo custSel modSld">
      <pc:chgData name="oriol Calblay" userId="e6c7bcb4eb356115" providerId="LiveId" clId="{9226275B-9786-48DA-A572-60531DF2A875}" dt="2024-07-24T07:39:43.437" v="166" actId="478"/>
      <pc:docMkLst>
        <pc:docMk/>
      </pc:docMkLst>
      <pc:sldChg chg="delSp modSp mod">
        <pc:chgData name="oriol Calblay" userId="e6c7bcb4eb356115" providerId="LiveId" clId="{9226275B-9786-48DA-A572-60531DF2A875}" dt="2024-07-24T07:32:23.656" v="72" actId="20577"/>
        <pc:sldMkLst>
          <pc:docMk/>
          <pc:sldMk cId="0" sldId="256"/>
        </pc:sldMkLst>
        <pc:spChg chg="mod">
          <ac:chgData name="oriol Calblay" userId="e6c7bcb4eb356115" providerId="LiveId" clId="{9226275B-9786-48DA-A572-60531DF2A875}" dt="2024-07-24T07:31:22.871" v="21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2:23.656" v="72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0:18.730" v="2" actId="6549"/>
          <ac:spMkLst>
            <pc:docMk/>
            <pc:sldMk cId="0" sldId="256"/>
            <ac:spMk id="9" creationId="{00000000-0000-0000-0000-000000000000}"/>
          </ac:spMkLst>
        </pc:spChg>
        <pc:picChg chg="del">
          <ac:chgData name="oriol Calblay" userId="e6c7bcb4eb356115" providerId="LiveId" clId="{9226275B-9786-48DA-A572-60531DF2A875}" dt="2024-07-24T07:30:21.442" v="3" actId="478"/>
          <ac:picMkLst>
            <pc:docMk/>
            <pc:sldMk cId="0" sldId="256"/>
            <ac:picMk id="10" creationId="{00000000-0000-0000-0000-000000000000}"/>
          </ac:picMkLst>
        </pc:picChg>
      </pc:sldChg>
      <pc:sldChg chg="delSp modSp mod">
        <pc:chgData name="oriol Calblay" userId="e6c7bcb4eb356115" providerId="LiveId" clId="{9226275B-9786-48DA-A572-60531DF2A875}" dt="2024-07-24T07:33:05.088" v="75" actId="1076"/>
        <pc:sldMkLst>
          <pc:docMk/>
          <pc:sldMk cId="0" sldId="257"/>
        </pc:sldMkLst>
        <pc:spChg chg="mod">
          <ac:chgData name="oriol Calblay" userId="e6c7bcb4eb356115" providerId="LiveId" clId="{9226275B-9786-48DA-A572-60531DF2A875}" dt="2024-07-24T07:33:05.088" v="75" actId="1076"/>
          <ac:spMkLst>
            <pc:docMk/>
            <pc:sldMk cId="0" sldId="257"/>
            <ac:spMk id="3" creationId="{00000000-0000-0000-0000-000000000000}"/>
          </ac:spMkLst>
        </pc:spChg>
        <pc:picChg chg="del">
          <ac:chgData name="oriol Calblay" userId="e6c7bcb4eb356115" providerId="LiveId" clId="{9226275B-9786-48DA-A572-60531DF2A875}" dt="2024-07-24T07:32:52.366" v="73" actId="478"/>
          <ac:picMkLst>
            <pc:docMk/>
            <pc:sldMk cId="0" sldId="257"/>
            <ac:picMk id="27" creationId="{00000000-0000-0000-0000-000000000000}"/>
          </ac:picMkLst>
        </pc:picChg>
      </pc:sldChg>
      <pc:sldChg chg="delSp modSp mod">
        <pc:chgData name="oriol Calblay" userId="e6c7bcb4eb356115" providerId="LiveId" clId="{9226275B-9786-48DA-A572-60531DF2A875}" dt="2024-07-24T07:34:48.709" v="96" actId="478"/>
        <pc:sldMkLst>
          <pc:docMk/>
          <pc:sldMk cId="0" sldId="258"/>
        </pc:sldMkLst>
        <pc:spChg chg="mod">
          <ac:chgData name="oriol Calblay" userId="e6c7bcb4eb356115" providerId="LiveId" clId="{9226275B-9786-48DA-A572-60531DF2A875}" dt="2024-07-24T07:34:02.196" v="76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4:09.618" v="94" actId="20577"/>
          <ac:spMkLst>
            <pc:docMk/>
            <pc:sldMk cId="0" sldId="258"/>
            <ac:spMk id="17" creationId="{00000000-0000-0000-0000-000000000000}"/>
          </ac:spMkLst>
        </pc:spChg>
        <pc:picChg chg="del">
          <ac:chgData name="oriol Calblay" userId="e6c7bcb4eb356115" providerId="LiveId" clId="{9226275B-9786-48DA-A572-60531DF2A875}" dt="2024-07-24T07:34:48.709" v="96" actId="478"/>
          <ac:picMkLst>
            <pc:docMk/>
            <pc:sldMk cId="0" sldId="258"/>
            <ac:picMk id="18" creationId="{00000000-0000-0000-0000-000000000000}"/>
          </ac:picMkLst>
        </pc:picChg>
      </pc:sldChg>
      <pc:sldChg chg="delSp mod">
        <pc:chgData name="oriol Calblay" userId="e6c7bcb4eb356115" providerId="LiveId" clId="{9226275B-9786-48DA-A572-60531DF2A875}" dt="2024-07-24T07:34:44.821" v="95" actId="478"/>
        <pc:sldMkLst>
          <pc:docMk/>
          <pc:sldMk cId="0" sldId="259"/>
        </pc:sldMkLst>
        <pc:picChg chg="del">
          <ac:chgData name="oriol Calblay" userId="e6c7bcb4eb356115" providerId="LiveId" clId="{9226275B-9786-48DA-A572-60531DF2A875}" dt="2024-07-24T07:34:44.821" v="95" actId="478"/>
          <ac:picMkLst>
            <pc:docMk/>
            <pc:sldMk cId="0" sldId="259"/>
            <ac:picMk id="22" creationId="{00000000-0000-0000-0000-000000000000}"/>
          </ac:picMkLst>
        </pc:picChg>
      </pc:sldChg>
      <pc:sldChg chg="delSp modSp mod">
        <pc:chgData name="oriol Calblay" userId="e6c7bcb4eb356115" providerId="LiveId" clId="{9226275B-9786-48DA-A572-60531DF2A875}" dt="2024-07-24T07:35:47.989" v="135" actId="478"/>
        <pc:sldMkLst>
          <pc:docMk/>
          <pc:sldMk cId="0" sldId="260"/>
        </pc:sldMkLst>
        <pc:spChg chg="mod">
          <ac:chgData name="oriol Calblay" userId="e6c7bcb4eb356115" providerId="LiveId" clId="{9226275B-9786-48DA-A572-60531DF2A875}" dt="2024-07-24T07:35:15.649" v="97" actId="6549"/>
          <ac:spMkLst>
            <pc:docMk/>
            <pc:sldMk cId="0" sldId="260"/>
            <ac:spMk id="8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5:43.781" v="134" actId="20577"/>
          <ac:spMkLst>
            <pc:docMk/>
            <pc:sldMk cId="0" sldId="260"/>
            <ac:spMk id="10" creationId="{00000000-0000-0000-0000-000000000000}"/>
          </ac:spMkLst>
        </pc:spChg>
        <pc:picChg chg="del">
          <ac:chgData name="oriol Calblay" userId="e6c7bcb4eb356115" providerId="LiveId" clId="{9226275B-9786-48DA-A572-60531DF2A875}" dt="2024-07-24T07:35:47.989" v="135" actId="478"/>
          <ac:picMkLst>
            <pc:docMk/>
            <pc:sldMk cId="0" sldId="260"/>
            <ac:picMk id="11" creationId="{00000000-0000-0000-0000-000000000000}"/>
          </ac:picMkLst>
        </pc:picChg>
      </pc:sldChg>
      <pc:sldChg chg="delSp mod">
        <pc:chgData name="oriol Calblay" userId="e6c7bcb4eb356115" providerId="LiveId" clId="{9226275B-9786-48DA-A572-60531DF2A875}" dt="2024-07-24T07:36:04.581" v="136" actId="478"/>
        <pc:sldMkLst>
          <pc:docMk/>
          <pc:sldMk cId="0" sldId="261"/>
        </pc:sldMkLst>
        <pc:picChg chg="del">
          <ac:chgData name="oriol Calblay" userId="e6c7bcb4eb356115" providerId="LiveId" clId="{9226275B-9786-48DA-A572-60531DF2A875}" dt="2024-07-24T07:36:04.581" v="136" actId="478"/>
          <ac:picMkLst>
            <pc:docMk/>
            <pc:sldMk cId="0" sldId="261"/>
            <ac:picMk id="15" creationId="{00000000-0000-0000-0000-000000000000}"/>
          </ac:picMkLst>
        </pc:picChg>
      </pc:sldChg>
      <pc:sldChg chg="addSp delSp modSp mod">
        <pc:chgData name="oriol Calblay" userId="e6c7bcb4eb356115" providerId="LiveId" clId="{9226275B-9786-48DA-A572-60531DF2A875}" dt="2024-07-24T07:38:16.663" v="161" actId="1076"/>
        <pc:sldMkLst>
          <pc:docMk/>
          <pc:sldMk cId="0" sldId="262"/>
        </pc:sldMkLst>
        <pc:spChg chg="mod">
          <ac:chgData name="oriol Calblay" userId="e6c7bcb4eb356115" providerId="LiveId" clId="{9226275B-9786-48DA-A572-60531DF2A875}" dt="2024-07-24T07:38:00.214" v="158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6:41.024" v="142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7:54.116" v="157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7:54.116" v="157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8:08.711" v="159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7:54.116" v="157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8:13.794" v="160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7:54.116" v="157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oriol Calblay" userId="e6c7bcb4eb356115" providerId="LiveId" clId="{9226275B-9786-48DA-A572-60531DF2A875}" dt="2024-07-24T07:38:16.663" v="161" actId="1076"/>
          <ac:spMkLst>
            <pc:docMk/>
            <pc:sldMk cId="0" sldId="262"/>
            <ac:spMk id="17" creationId="{00000000-0000-0000-0000-000000000000}"/>
          </ac:spMkLst>
        </pc:spChg>
        <pc:picChg chg="del">
          <ac:chgData name="oriol Calblay" userId="e6c7bcb4eb356115" providerId="LiveId" clId="{9226275B-9786-48DA-A572-60531DF2A875}" dt="2024-07-24T07:37:08.567" v="150" actId="478"/>
          <ac:picMkLst>
            <pc:docMk/>
            <pc:sldMk cId="0" sldId="262"/>
            <ac:picMk id="6" creationId="{00000000-0000-0000-0000-000000000000}"/>
          </ac:picMkLst>
        </pc:picChg>
        <pc:picChg chg="del">
          <ac:chgData name="oriol Calblay" userId="e6c7bcb4eb356115" providerId="LiveId" clId="{9226275B-9786-48DA-A572-60531DF2A875}" dt="2024-07-24T07:37:06.612" v="149" actId="478"/>
          <ac:picMkLst>
            <pc:docMk/>
            <pc:sldMk cId="0" sldId="262"/>
            <ac:picMk id="9" creationId="{00000000-0000-0000-0000-000000000000}"/>
          </ac:picMkLst>
        </pc:picChg>
        <pc:picChg chg="del">
          <ac:chgData name="oriol Calblay" userId="e6c7bcb4eb356115" providerId="LiveId" clId="{9226275B-9786-48DA-A572-60531DF2A875}" dt="2024-07-24T07:37:10.589" v="151" actId="478"/>
          <ac:picMkLst>
            <pc:docMk/>
            <pc:sldMk cId="0" sldId="262"/>
            <ac:picMk id="12" creationId="{00000000-0000-0000-0000-000000000000}"/>
          </ac:picMkLst>
        </pc:picChg>
        <pc:picChg chg="del">
          <ac:chgData name="oriol Calblay" userId="e6c7bcb4eb356115" providerId="LiveId" clId="{9226275B-9786-48DA-A572-60531DF2A875}" dt="2024-07-24T07:37:03.071" v="145" actId="478"/>
          <ac:picMkLst>
            <pc:docMk/>
            <pc:sldMk cId="0" sldId="262"/>
            <ac:picMk id="15" creationId="{00000000-0000-0000-0000-000000000000}"/>
          </ac:picMkLst>
        </pc:picChg>
        <pc:picChg chg="del">
          <ac:chgData name="oriol Calblay" userId="e6c7bcb4eb356115" providerId="LiveId" clId="{9226275B-9786-48DA-A572-60531DF2A875}" dt="2024-07-24T07:37:12.300" v="152" actId="478"/>
          <ac:picMkLst>
            <pc:docMk/>
            <pc:sldMk cId="0" sldId="262"/>
            <ac:picMk id="18" creationId="{00000000-0000-0000-0000-000000000000}"/>
          </ac:picMkLst>
        </pc:picChg>
        <pc:picChg chg="add del mod">
          <ac:chgData name="oriol Calblay" userId="e6c7bcb4eb356115" providerId="LiveId" clId="{9226275B-9786-48DA-A572-60531DF2A875}" dt="2024-07-24T07:37:05.229" v="148" actId="478"/>
          <ac:picMkLst>
            <pc:docMk/>
            <pc:sldMk cId="0" sldId="262"/>
            <ac:picMk id="19" creationId="{1A9DE09B-D778-9F88-D8FC-D9B0C6CBB291}"/>
          </ac:picMkLst>
        </pc:picChg>
        <pc:picChg chg="add del mod">
          <ac:chgData name="oriol Calblay" userId="e6c7bcb4eb356115" providerId="LiveId" clId="{9226275B-9786-48DA-A572-60531DF2A875}" dt="2024-07-24T07:37:04.356" v="147" actId="478"/>
          <ac:picMkLst>
            <pc:docMk/>
            <pc:sldMk cId="0" sldId="262"/>
            <ac:picMk id="20" creationId="{205A90DD-2C8D-5C87-B68F-CF2A0E0BC544}"/>
          </ac:picMkLst>
        </pc:picChg>
        <pc:picChg chg="add del mod">
          <ac:chgData name="oriol Calblay" userId="e6c7bcb4eb356115" providerId="LiveId" clId="{9226275B-9786-48DA-A572-60531DF2A875}" dt="2024-07-24T07:37:03.703" v="146" actId="478"/>
          <ac:picMkLst>
            <pc:docMk/>
            <pc:sldMk cId="0" sldId="262"/>
            <ac:picMk id="21" creationId="{D5979A5F-211C-FDE7-A46D-B9785E4FA3DB}"/>
          </ac:picMkLst>
        </pc:picChg>
        <pc:picChg chg="add mod">
          <ac:chgData name="oriol Calblay" userId="e6c7bcb4eb356115" providerId="LiveId" clId="{9226275B-9786-48DA-A572-60531DF2A875}" dt="2024-07-24T07:36:59.848" v="144" actId="571"/>
          <ac:picMkLst>
            <pc:docMk/>
            <pc:sldMk cId="0" sldId="262"/>
            <ac:picMk id="22" creationId="{7377A64E-ECE2-AEB6-E142-848612A04999}"/>
          </ac:picMkLst>
        </pc:picChg>
        <pc:picChg chg="add mod">
          <ac:chgData name="oriol Calblay" userId="e6c7bcb4eb356115" providerId="LiveId" clId="{9226275B-9786-48DA-A572-60531DF2A875}" dt="2024-07-24T07:36:59.848" v="144" actId="571"/>
          <ac:picMkLst>
            <pc:docMk/>
            <pc:sldMk cId="0" sldId="262"/>
            <ac:picMk id="23" creationId="{FEADAF6E-7B94-B3D5-A797-D1403DD1ADA1}"/>
          </ac:picMkLst>
        </pc:picChg>
        <pc:picChg chg="add mod">
          <ac:chgData name="oriol Calblay" userId="e6c7bcb4eb356115" providerId="LiveId" clId="{9226275B-9786-48DA-A572-60531DF2A875}" dt="2024-07-24T07:36:59.848" v="144" actId="571"/>
          <ac:picMkLst>
            <pc:docMk/>
            <pc:sldMk cId="0" sldId="262"/>
            <ac:picMk id="24" creationId="{F7ACB700-33E9-1374-3074-D2E823043118}"/>
          </ac:picMkLst>
        </pc:picChg>
        <pc:picChg chg="add mod">
          <ac:chgData name="oriol Calblay" userId="e6c7bcb4eb356115" providerId="LiveId" clId="{9226275B-9786-48DA-A572-60531DF2A875}" dt="2024-07-24T07:36:59.848" v="144" actId="571"/>
          <ac:picMkLst>
            <pc:docMk/>
            <pc:sldMk cId="0" sldId="262"/>
            <ac:picMk id="25" creationId="{F55DAE80-57D9-F01B-6699-5036472E0618}"/>
          </ac:picMkLst>
        </pc:picChg>
      </pc:sldChg>
      <pc:sldChg chg="delSp modSp mod">
        <pc:chgData name="oriol Calblay" userId="e6c7bcb4eb356115" providerId="LiveId" clId="{9226275B-9786-48DA-A572-60531DF2A875}" dt="2024-07-24T07:39:16.588" v="165" actId="478"/>
        <pc:sldMkLst>
          <pc:docMk/>
          <pc:sldMk cId="0" sldId="263"/>
        </pc:sldMkLst>
        <pc:spChg chg="mod">
          <ac:chgData name="oriol Calblay" userId="e6c7bcb4eb356115" providerId="LiveId" clId="{9226275B-9786-48DA-A572-60531DF2A875}" dt="2024-07-24T07:38:52.086" v="163" actId="20577"/>
          <ac:spMkLst>
            <pc:docMk/>
            <pc:sldMk cId="0" sldId="263"/>
            <ac:spMk id="18" creationId="{00000000-0000-0000-0000-000000000000}"/>
          </ac:spMkLst>
        </pc:spChg>
        <pc:picChg chg="del">
          <ac:chgData name="oriol Calblay" userId="e6c7bcb4eb356115" providerId="LiveId" clId="{9226275B-9786-48DA-A572-60531DF2A875}" dt="2024-07-24T07:39:16.588" v="165" actId="478"/>
          <ac:picMkLst>
            <pc:docMk/>
            <pc:sldMk cId="0" sldId="263"/>
            <ac:picMk id="19" creationId="{00000000-0000-0000-0000-000000000000}"/>
          </ac:picMkLst>
        </pc:picChg>
      </pc:sldChg>
      <pc:sldChg chg="delSp mod">
        <pc:chgData name="oriol Calblay" userId="e6c7bcb4eb356115" providerId="LiveId" clId="{9226275B-9786-48DA-A572-60531DF2A875}" dt="2024-07-24T07:39:13.942" v="164" actId="478"/>
        <pc:sldMkLst>
          <pc:docMk/>
          <pc:sldMk cId="0" sldId="264"/>
        </pc:sldMkLst>
        <pc:picChg chg="del">
          <ac:chgData name="oriol Calblay" userId="e6c7bcb4eb356115" providerId="LiveId" clId="{9226275B-9786-48DA-A572-60531DF2A875}" dt="2024-07-24T07:39:13.942" v="164" actId="478"/>
          <ac:picMkLst>
            <pc:docMk/>
            <pc:sldMk cId="0" sldId="264"/>
            <ac:picMk id="22" creationId="{00000000-0000-0000-0000-000000000000}"/>
          </ac:picMkLst>
        </pc:picChg>
      </pc:sldChg>
      <pc:sldChg chg="delSp mod">
        <pc:chgData name="oriol Calblay" userId="e6c7bcb4eb356115" providerId="LiveId" clId="{9226275B-9786-48DA-A572-60531DF2A875}" dt="2024-07-24T07:39:43.437" v="166" actId="478"/>
        <pc:sldMkLst>
          <pc:docMk/>
          <pc:sldMk cId="0" sldId="265"/>
        </pc:sldMkLst>
        <pc:picChg chg="del">
          <ac:chgData name="oriol Calblay" userId="e6c7bcb4eb356115" providerId="LiveId" clId="{9226275B-9786-48DA-A572-60531DF2A875}" dt="2024-07-24T07:39:43.437" v="166" actId="478"/>
          <ac:picMkLst>
            <pc:docMk/>
            <pc:sldMk cId="0" sldId="265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173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30195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301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45674" y="675084"/>
            <a:ext cx="7425452" cy="4234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8337"/>
              </a:lnSpc>
              <a:buNone/>
            </a:pPr>
            <a:r>
              <a:rPr lang="en-US" sz="667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Plan de </a:t>
            </a:r>
            <a:r>
              <a:rPr lang="en-US" sz="667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Liderazgo</a:t>
            </a:r>
            <a:r>
              <a:rPr lang="en-US" sz="667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Transformacional en GRUPO CAL BLAY SL</a:t>
            </a:r>
            <a:endParaRPr lang="en-US" sz="6670" dirty="0"/>
          </a:p>
        </p:txBody>
      </p:sp>
      <p:sp>
        <p:nvSpPr>
          <p:cNvPr id="6" name="Text 2"/>
          <p:cNvSpPr/>
          <p:nvPr/>
        </p:nvSpPr>
        <p:spPr>
          <a:xfrm>
            <a:off x="6345674" y="5278160"/>
            <a:ext cx="7425452" cy="1571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93"/>
              </a:lnSpc>
              <a:buNone/>
            </a:pPr>
            <a:r>
              <a:rPr lang="en-US" sz="19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GRUPO CAL BLAY SL es una empresa familiar con </a:t>
            </a:r>
            <a:r>
              <a:rPr lang="en-US" sz="1933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más</a:t>
            </a:r>
            <a:r>
              <a:rPr lang="en-US" sz="19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40 años de trayectoria. Ha crecido desde un bar local hasta </a:t>
            </a:r>
            <a:r>
              <a:rPr lang="en-US" sz="1933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</a:t>
            </a:r>
            <a:r>
              <a:rPr lang="en-US" sz="19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933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</a:t>
            </a:r>
            <a:r>
              <a:rPr lang="en-US" sz="19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hoy que </a:t>
            </a:r>
            <a:r>
              <a:rPr lang="en-US" sz="1933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ofrece</a:t>
            </a:r>
            <a:r>
              <a:rPr lang="en-US" sz="19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933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servicios</a:t>
            </a:r>
            <a:r>
              <a:rPr lang="en-US" sz="193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catering, restaurantes y eventos. Busca implementar un liderazgo transformacional para enfrentar desafíos futuros.</a:t>
            </a:r>
            <a:endParaRPr lang="en-US" sz="1933" dirty="0"/>
          </a:p>
        </p:txBody>
      </p:sp>
      <p:sp>
        <p:nvSpPr>
          <p:cNvPr id="7" name="Shape 3"/>
          <p:cNvSpPr/>
          <p:nvPr/>
        </p:nvSpPr>
        <p:spPr>
          <a:xfrm>
            <a:off x="6345674" y="7143869"/>
            <a:ext cx="392787" cy="392787"/>
          </a:xfrm>
          <a:prstGeom prst="roundRect">
            <a:avLst>
              <a:gd name="adj" fmla="val 23277465"/>
            </a:avLst>
          </a:prstGeom>
          <a:solidFill>
            <a:srgbClr val="E0E48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71166" y="7291507"/>
            <a:ext cx="141803" cy="97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68" dirty="0">
                <a:solidFill>
                  <a:srgbClr val="3C383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</a:t>
            </a:r>
            <a:endParaRPr lang="en-US" sz="768" dirty="0"/>
          </a:p>
        </p:txBody>
      </p:sp>
      <p:sp>
        <p:nvSpPr>
          <p:cNvPr id="9" name="Text 5"/>
          <p:cNvSpPr/>
          <p:nvPr/>
        </p:nvSpPr>
        <p:spPr>
          <a:xfrm>
            <a:off x="6861215" y="7125414"/>
            <a:ext cx="2063353" cy="4296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383"/>
              </a:lnSpc>
              <a:buNone/>
            </a:pPr>
            <a:r>
              <a:rPr lang="en-US" sz="2417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Oriol Puig</a:t>
            </a:r>
            <a:endParaRPr lang="en-US" sz="241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410575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1602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594967" y="2635448"/>
            <a:ext cx="4594741" cy="540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253"/>
              </a:lnSpc>
              <a:buNone/>
            </a:pPr>
            <a:r>
              <a:rPr lang="en-US" sz="3402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Historia y Crecimiento</a:t>
            </a:r>
            <a:endParaRPr lang="en-US" sz="3402" dirty="0"/>
          </a:p>
        </p:txBody>
      </p:sp>
      <p:sp>
        <p:nvSpPr>
          <p:cNvPr id="6" name="Shape 2"/>
          <p:cNvSpPr/>
          <p:nvPr/>
        </p:nvSpPr>
        <p:spPr>
          <a:xfrm>
            <a:off x="2843451" y="3434715"/>
            <a:ext cx="21550" cy="4500682"/>
          </a:xfrm>
          <a:prstGeom prst="roundRect">
            <a:avLst>
              <a:gd name="adj" fmla="val 336822"/>
            </a:avLst>
          </a:prstGeom>
          <a:solidFill>
            <a:srgbClr val="B8BFDF"/>
          </a:solidFill>
          <a:ln/>
        </p:spPr>
      </p:sp>
      <p:sp>
        <p:nvSpPr>
          <p:cNvPr id="7" name="Shape 3"/>
          <p:cNvSpPr/>
          <p:nvPr/>
        </p:nvSpPr>
        <p:spPr>
          <a:xfrm>
            <a:off x="3048536" y="3812560"/>
            <a:ext cx="604837" cy="21550"/>
          </a:xfrm>
          <a:prstGeom prst="roundRect">
            <a:avLst>
              <a:gd name="adj" fmla="val 336822"/>
            </a:avLst>
          </a:prstGeom>
          <a:solidFill>
            <a:srgbClr val="B8BFDF"/>
          </a:solidFill>
          <a:ln/>
        </p:spPr>
      </p:sp>
      <p:sp>
        <p:nvSpPr>
          <p:cNvPr id="8" name="Shape 4"/>
          <p:cNvSpPr/>
          <p:nvPr/>
        </p:nvSpPr>
        <p:spPr>
          <a:xfrm>
            <a:off x="2659797" y="3629025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815769" y="3693795"/>
            <a:ext cx="76676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041" dirty="0"/>
          </a:p>
        </p:txBody>
      </p:sp>
      <p:sp>
        <p:nvSpPr>
          <p:cNvPr id="10" name="Text 6"/>
          <p:cNvSpPr/>
          <p:nvPr/>
        </p:nvSpPr>
        <p:spPr>
          <a:xfrm>
            <a:off x="3804642" y="3607475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1982</a:t>
            </a:r>
            <a:endParaRPr lang="en-US" sz="1701" dirty="0"/>
          </a:p>
        </p:txBody>
      </p:sp>
      <p:sp>
        <p:nvSpPr>
          <p:cNvPr id="11" name="Text 7"/>
          <p:cNvSpPr/>
          <p:nvPr/>
        </p:nvSpPr>
        <p:spPr>
          <a:xfrm>
            <a:off x="3804642" y="3980974"/>
            <a:ext cx="8230672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Fundación como bar en Sant Sadurní d'Anoia.</a:t>
            </a:r>
            <a:endParaRPr lang="en-US" sz="1361" dirty="0"/>
          </a:p>
        </p:txBody>
      </p:sp>
      <p:sp>
        <p:nvSpPr>
          <p:cNvPr id="12" name="Shape 8"/>
          <p:cNvSpPr/>
          <p:nvPr/>
        </p:nvSpPr>
        <p:spPr>
          <a:xfrm>
            <a:off x="3048536" y="4980920"/>
            <a:ext cx="604837" cy="21550"/>
          </a:xfrm>
          <a:prstGeom prst="roundRect">
            <a:avLst>
              <a:gd name="adj" fmla="val 336822"/>
            </a:avLst>
          </a:prstGeom>
          <a:solidFill>
            <a:srgbClr val="B8BFDF"/>
          </a:solidFill>
          <a:ln/>
        </p:spPr>
      </p:sp>
      <p:sp>
        <p:nvSpPr>
          <p:cNvPr id="13" name="Shape 9"/>
          <p:cNvSpPr/>
          <p:nvPr/>
        </p:nvSpPr>
        <p:spPr>
          <a:xfrm>
            <a:off x="2659797" y="4797385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86479" y="4862155"/>
            <a:ext cx="135255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041" dirty="0"/>
          </a:p>
        </p:txBody>
      </p:sp>
      <p:sp>
        <p:nvSpPr>
          <p:cNvPr id="15" name="Text 11"/>
          <p:cNvSpPr/>
          <p:nvPr/>
        </p:nvSpPr>
        <p:spPr>
          <a:xfrm>
            <a:off x="3804642" y="4775835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1989</a:t>
            </a:r>
            <a:endParaRPr lang="en-US" sz="1701" dirty="0"/>
          </a:p>
        </p:txBody>
      </p:sp>
      <p:sp>
        <p:nvSpPr>
          <p:cNvPr id="16" name="Text 12"/>
          <p:cNvSpPr/>
          <p:nvPr/>
        </p:nvSpPr>
        <p:spPr>
          <a:xfrm>
            <a:off x="3804642" y="5149334"/>
            <a:ext cx="8230672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Expansión a servicios de catering para escuelas y eventos.</a:t>
            </a:r>
            <a:endParaRPr lang="en-US" sz="1361" dirty="0"/>
          </a:p>
        </p:txBody>
      </p:sp>
      <p:sp>
        <p:nvSpPr>
          <p:cNvPr id="17" name="Shape 13"/>
          <p:cNvSpPr/>
          <p:nvPr/>
        </p:nvSpPr>
        <p:spPr>
          <a:xfrm>
            <a:off x="3048536" y="6149280"/>
            <a:ext cx="604837" cy="21550"/>
          </a:xfrm>
          <a:prstGeom prst="roundRect">
            <a:avLst>
              <a:gd name="adj" fmla="val 336822"/>
            </a:avLst>
          </a:prstGeom>
          <a:solidFill>
            <a:srgbClr val="B8BFDF"/>
          </a:solidFill>
          <a:ln/>
        </p:spPr>
      </p:sp>
      <p:sp>
        <p:nvSpPr>
          <p:cNvPr id="18" name="Shape 14"/>
          <p:cNvSpPr/>
          <p:nvPr/>
        </p:nvSpPr>
        <p:spPr>
          <a:xfrm>
            <a:off x="2659797" y="5965746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81360" y="6030516"/>
            <a:ext cx="145613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041" dirty="0"/>
          </a:p>
        </p:txBody>
      </p:sp>
      <p:sp>
        <p:nvSpPr>
          <p:cNvPr id="20" name="Text 16"/>
          <p:cNvSpPr/>
          <p:nvPr/>
        </p:nvSpPr>
        <p:spPr>
          <a:xfrm>
            <a:off x="3804642" y="5944195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2000</a:t>
            </a:r>
            <a:endParaRPr lang="en-US" sz="1701" dirty="0"/>
          </a:p>
        </p:txBody>
      </p:sp>
      <p:sp>
        <p:nvSpPr>
          <p:cNvPr id="21" name="Text 17"/>
          <p:cNvSpPr/>
          <p:nvPr/>
        </p:nvSpPr>
        <p:spPr>
          <a:xfrm>
            <a:off x="3804642" y="6317694"/>
            <a:ext cx="8230672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Inauguración de catering para bodas y eventos corporativos.</a:t>
            </a:r>
            <a:endParaRPr lang="en-US" sz="1361" dirty="0"/>
          </a:p>
        </p:txBody>
      </p:sp>
      <p:sp>
        <p:nvSpPr>
          <p:cNvPr id="22" name="Shape 18"/>
          <p:cNvSpPr/>
          <p:nvPr/>
        </p:nvSpPr>
        <p:spPr>
          <a:xfrm>
            <a:off x="3048536" y="7317641"/>
            <a:ext cx="604837" cy="21550"/>
          </a:xfrm>
          <a:prstGeom prst="roundRect">
            <a:avLst>
              <a:gd name="adj" fmla="val 336822"/>
            </a:avLst>
          </a:prstGeom>
          <a:solidFill>
            <a:srgbClr val="B8BFDF"/>
          </a:solidFill>
          <a:ln/>
        </p:spPr>
      </p:sp>
      <p:sp>
        <p:nvSpPr>
          <p:cNvPr id="23" name="Shape 19"/>
          <p:cNvSpPr/>
          <p:nvPr/>
        </p:nvSpPr>
        <p:spPr>
          <a:xfrm>
            <a:off x="2659797" y="7134106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88265" y="7198876"/>
            <a:ext cx="131802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041" dirty="0"/>
          </a:p>
        </p:txBody>
      </p:sp>
      <p:sp>
        <p:nvSpPr>
          <p:cNvPr id="25" name="Text 21"/>
          <p:cNvSpPr/>
          <p:nvPr/>
        </p:nvSpPr>
        <p:spPr>
          <a:xfrm>
            <a:off x="3804642" y="7112556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2006</a:t>
            </a:r>
            <a:endParaRPr lang="en-US" sz="1701" dirty="0"/>
          </a:p>
        </p:txBody>
      </p:sp>
      <p:sp>
        <p:nvSpPr>
          <p:cNvPr id="26" name="Text 22"/>
          <p:cNvSpPr/>
          <p:nvPr/>
        </p:nvSpPr>
        <p:spPr>
          <a:xfrm>
            <a:off x="3804642" y="7486055"/>
            <a:ext cx="8230672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Traslado a nueva sede en Sant Pere de Riudebitlles.</a:t>
            </a:r>
            <a:endParaRPr lang="en-US" sz="136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  <p:txBody>
          <a:bodyPr/>
          <a:lstStyle/>
          <a:p>
            <a:endParaRPr lang="ca-E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3795355"/>
            <a:ext cx="7800023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Líneas de Negocio Actuales</a:t>
            </a:r>
            <a:endParaRPr lang="en-US" sz="486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37" y="4937165"/>
            <a:ext cx="617220" cy="6172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4037" y="5801201"/>
            <a:ext cx="29478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Catering Empresas</a:t>
            </a:r>
            <a:endParaRPr lang="en-US" sz="2430" dirty="0"/>
          </a:p>
        </p:txBody>
      </p:sp>
      <p:sp>
        <p:nvSpPr>
          <p:cNvPr id="8" name="Text 3"/>
          <p:cNvSpPr/>
          <p:nvPr/>
        </p:nvSpPr>
        <p:spPr>
          <a:xfrm>
            <a:off x="864037" y="6335078"/>
            <a:ext cx="294786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Servicios de catering para eventos corporativos.</a:t>
            </a:r>
            <a:endParaRPr lang="en-US" sz="1944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2189" y="4937165"/>
            <a:ext cx="617220" cy="6172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182189" y="5801201"/>
            <a:ext cx="29478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Catering Bodas</a:t>
            </a:r>
            <a:endParaRPr lang="en-US" sz="2430" dirty="0"/>
          </a:p>
        </p:txBody>
      </p:sp>
      <p:sp>
        <p:nvSpPr>
          <p:cNvPr id="11" name="Text 5"/>
          <p:cNvSpPr/>
          <p:nvPr/>
        </p:nvSpPr>
        <p:spPr>
          <a:xfrm>
            <a:off x="4182189" y="6335078"/>
            <a:ext cx="294786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Servicios especializados para celebraciones matrimoniales.</a:t>
            </a:r>
            <a:endParaRPr lang="en-US" sz="1944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342" y="4937165"/>
            <a:ext cx="617220" cy="6172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500342" y="5801201"/>
            <a:ext cx="29478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Restaurantes</a:t>
            </a:r>
            <a:endParaRPr lang="en-US" sz="2430" dirty="0"/>
          </a:p>
        </p:txBody>
      </p:sp>
      <p:sp>
        <p:nvSpPr>
          <p:cNvPr id="14" name="Text 7"/>
          <p:cNvSpPr/>
          <p:nvPr/>
        </p:nvSpPr>
        <p:spPr>
          <a:xfrm>
            <a:off x="7500342" y="6335078"/>
            <a:ext cx="2947868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Gestión de ocho restaurantes propios.</a:t>
            </a:r>
            <a:endParaRPr lang="en-US" sz="1944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8495" y="4937165"/>
            <a:ext cx="617220" cy="6172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818495" y="5801201"/>
            <a:ext cx="29478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Precocinados</a:t>
            </a:r>
            <a:endParaRPr lang="en-US" sz="2430" dirty="0"/>
          </a:p>
        </p:txBody>
      </p:sp>
      <p:sp>
        <p:nvSpPr>
          <p:cNvPr id="17" name="Text 9"/>
          <p:cNvSpPr/>
          <p:nvPr/>
        </p:nvSpPr>
        <p:spPr>
          <a:xfrm>
            <a:off x="10818495" y="6335078"/>
            <a:ext cx="294786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Línea de productos precocinados para </a:t>
            </a:r>
            <a:r>
              <a:rPr lang="en-US" sz="1944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diferentes</a:t>
            </a: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clientes.</a:t>
            </a:r>
            <a:endParaRPr lang="en-US" sz="19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68985" y="1464945"/>
            <a:ext cx="6633329" cy="6096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4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Habilidades Directivas Clave</a:t>
            </a:r>
            <a:endParaRPr lang="en-US" sz="3840" dirty="0"/>
          </a:p>
        </p:txBody>
      </p:sp>
      <p:sp>
        <p:nvSpPr>
          <p:cNvPr id="6" name="Shape 2"/>
          <p:cNvSpPr/>
          <p:nvPr/>
        </p:nvSpPr>
        <p:spPr>
          <a:xfrm>
            <a:off x="6168985" y="2586514"/>
            <a:ext cx="438864" cy="438864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345198" y="2659618"/>
            <a:ext cx="86439" cy="2925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04"/>
              </a:lnSpc>
              <a:buNone/>
            </a:pPr>
            <a:r>
              <a:rPr lang="en-US" sz="230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304" dirty="0"/>
          </a:p>
        </p:txBody>
      </p:sp>
      <p:sp>
        <p:nvSpPr>
          <p:cNvPr id="8" name="Text 4"/>
          <p:cNvSpPr/>
          <p:nvPr/>
        </p:nvSpPr>
        <p:spPr>
          <a:xfrm>
            <a:off x="6802874" y="2586514"/>
            <a:ext cx="2438162" cy="30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2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Visión Estratégica</a:t>
            </a:r>
            <a:endParaRPr lang="en-US" sz="1920" dirty="0"/>
          </a:p>
        </p:txBody>
      </p:sp>
      <p:sp>
        <p:nvSpPr>
          <p:cNvPr id="9" name="Text 5"/>
          <p:cNvSpPr/>
          <p:nvPr/>
        </p:nvSpPr>
        <p:spPr>
          <a:xfrm>
            <a:off x="6802874" y="3008233"/>
            <a:ext cx="7144941" cy="3119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57"/>
              </a:lnSpc>
              <a:buNone/>
            </a:pPr>
            <a:r>
              <a:rPr lang="en-US" sz="1536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Capacidad para identificar y aprovechar nuevas oportunidades de mercado.</a:t>
            </a:r>
            <a:endParaRPr lang="en-US" sz="1536" dirty="0"/>
          </a:p>
        </p:txBody>
      </p:sp>
      <p:sp>
        <p:nvSpPr>
          <p:cNvPr id="10" name="Shape 6"/>
          <p:cNvSpPr/>
          <p:nvPr/>
        </p:nvSpPr>
        <p:spPr>
          <a:xfrm>
            <a:off x="6168985" y="3734633"/>
            <a:ext cx="438864" cy="438864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12098" y="3807738"/>
            <a:ext cx="152519" cy="2925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04"/>
              </a:lnSpc>
              <a:buNone/>
            </a:pPr>
            <a:r>
              <a:rPr lang="en-US" sz="230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304" dirty="0"/>
          </a:p>
        </p:txBody>
      </p:sp>
      <p:sp>
        <p:nvSpPr>
          <p:cNvPr id="12" name="Text 8"/>
          <p:cNvSpPr/>
          <p:nvPr/>
        </p:nvSpPr>
        <p:spPr>
          <a:xfrm>
            <a:off x="6802874" y="3734633"/>
            <a:ext cx="2907983" cy="30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2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Adaptación y Flexibilidad</a:t>
            </a:r>
            <a:endParaRPr lang="en-US" sz="1920" dirty="0"/>
          </a:p>
        </p:txBody>
      </p:sp>
      <p:sp>
        <p:nvSpPr>
          <p:cNvPr id="13" name="Text 9"/>
          <p:cNvSpPr/>
          <p:nvPr/>
        </p:nvSpPr>
        <p:spPr>
          <a:xfrm>
            <a:off x="6802874" y="4156353"/>
            <a:ext cx="7144941" cy="3119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57"/>
              </a:lnSpc>
              <a:buNone/>
            </a:pPr>
            <a:r>
              <a:rPr lang="en-US" sz="1536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Habilidad para ajustarse a cambios en la demanda y logística.</a:t>
            </a:r>
            <a:endParaRPr lang="en-US" sz="1536" dirty="0"/>
          </a:p>
        </p:txBody>
      </p:sp>
      <p:sp>
        <p:nvSpPr>
          <p:cNvPr id="14" name="Shape 10"/>
          <p:cNvSpPr/>
          <p:nvPr/>
        </p:nvSpPr>
        <p:spPr>
          <a:xfrm>
            <a:off x="6168985" y="4882753"/>
            <a:ext cx="438864" cy="438864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06264" y="4955858"/>
            <a:ext cx="164306" cy="2925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04"/>
              </a:lnSpc>
              <a:buNone/>
            </a:pPr>
            <a:r>
              <a:rPr lang="en-US" sz="230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304" dirty="0"/>
          </a:p>
        </p:txBody>
      </p:sp>
      <p:sp>
        <p:nvSpPr>
          <p:cNvPr id="16" name="Text 12"/>
          <p:cNvSpPr/>
          <p:nvPr/>
        </p:nvSpPr>
        <p:spPr>
          <a:xfrm>
            <a:off x="6802874" y="4882753"/>
            <a:ext cx="2438162" cy="30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2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Gestión del Cambio</a:t>
            </a:r>
            <a:endParaRPr lang="en-US" sz="1920" dirty="0"/>
          </a:p>
        </p:txBody>
      </p:sp>
      <p:sp>
        <p:nvSpPr>
          <p:cNvPr id="17" name="Text 13"/>
          <p:cNvSpPr/>
          <p:nvPr/>
        </p:nvSpPr>
        <p:spPr>
          <a:xfrm>
            <a:off x="6802874" y="5304473"/>
            <a:ext cx="7144941" cy="3119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57"/>
              </a:lnSpc>
              <a:buNone/>
            </a:pPr>
            <a:r>
              <a:rPr lang="en-US" sz="1536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Manejo efectivo de la transformación y diversificación empresarial.</a:t>
            </a:r>
            <a:endParaRPr lang="en-US" sz="1536" dirty="0"/>
          </a:p>
        </p:txBody>
      </p:sp>
      <p:sp>
        <p:nvSpPr>
          <p:cNvPr id="18" name="Shape 14"/>
          <p:cNvSpPr/>
          <p:nvPr/>
        </p:nvSpPr>
        <p:spPr>
          <a:xfrm>
            <a:off x="6168985" y="6030873"/>
            <a:ext cx="438864" cy="438864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14003" y="6103977"/>
            <a:ext cx="148709" cy="2925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04"/>
              </a:lnSpc>
              <a:buNone/>
            </a:pPr>
            <a:r>
              <a:rPr lang="en-US" sz="230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304" dirty="0"/>
          </a:p>
        </p:txBody>
      </p:sp>
      <p:sp>
        <p:nvSpPr>
          <p:cNvPr id="20" name="Text 16"/>
          <p:cNvSpPr/>
          <p:nvPr/>
        </p:nvSpPr>
        <p:spPr>
          <a:xfrm>
            <a:off x="6802874" y="6030873"/>
            <a:ext cx="2438162" cy="30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2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Innovación</a:t>
            </a:r>
            <a:endParaRPr lang="en-US" sz="1920" dirty="0"/>
          </a:p>
        </p:txBody>
      </p:sp>
      <p:sp>
        <p:nvSpPr>
          <p:cNvPr id="21" name="Text 17"/>
          <p:cNvSpPr/>
          <p:nvPr/>
        </p:nvSpPr>
        <p:spPr>
          <a:xfrm>
            <a:off x="6802874" y="6452592"/>
            <a:ext cx="7144941" cy="3119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57"/>
              </a:lnSpc>
              <a:buNone/>
            </a:pPr>
            <a:r>
              <a:rPr lang="en-US" sz="1536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Fomento de una cultura de innovación y emprendimiento interno.</a:t>
            </a:r>
            <a:endParaRPr lang="en-US" sz="153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2203013"/>
            <a:ext cx="8848487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Cultura Organizacional Actual</a:t>
            </a:r>
            <a:endParaRPr lang="en-US" sz="4860" dirty="0"/>
          </a:p>
        </p:txBody>
      </p:sp>
      <p:sp>
        <p:nvSpPr>
          <p:cNvPr id="5" name="Text 2"/>
          <p:cNvSpPr/>
          <p:nvPr/>
        </p:nvSpPr>
        <p:spPr>
          <a:xfrm>
            <a:off x="864037" y="359163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Raíces Familiares</a:t>
            </a:r>
            <a:endParaRPr lang="en-US" sz="2430" dirty="0"/>
          </a:p>
        </p:txBody>
      </p:sp>
      <p:sp>
        <p:nvSpPr>
          <p:cNvPr id="6" name="Text 3"/>
          <p:cNvSpPr/>
          <p:nvPr/>
        </p:nvSpPr>
        <p:spPr>
          <a:xfrm>
            <a:off x="864037" y="4224218"/>
            <a:ext cx="3898821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Dirección por tres hermanos y un chef ejecutivo de larga trayectoria. Oportunidades de crecimiento interno.</a:t>
            </a:r>
            <a:endParaRPr lang="en-US" sz="1944" dirty="0"/>
          </a:p>
        </p:txBody>
      </p:sp>
      <p:sp>
        <p:nvSpPr>
          <p:cNvPr id="7" name="Text 4"/>
          <p:cNvSpPr/>
          <p:nvPr/>
        </p:nvSpPr>
        <p:spPr>
          <a:xfrm>
            <a:off x="5372695" y="3591639"/>
            <a:ext cx="3592949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Desafíos del Crecimiento</a:t>
            </a:r>
            <a:endParaRPr lang="en-US" sz="2430" dirty="0"/>
          </a:p>
        </p:txBody>
      </p:sp>
      <p:sp>
        <p:nvSpPr>
          <p:cNvPr id="8" name="Text 5"/>
          <p:cNvSpPr/>
          <p:nvPr/>
        </p:nvSpPr>
        <p:spPr>
          <a:xfrm>
            <a:off x="5372695" y="4224218"/>
            <a:ext cx="3898821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Resistencia al cambio y de tareas. Falta de estructura formal en algunos procesos.</a:t>
            </a:r>
            <a:endParaRPr lang="en-US" sz="1944" dirty="0"/>
          </a:p>
        </p:txBody>
      </p:sp>
      <p:sp>
        <p:nvSpPr>
          <p:cNvPr id="9" name="Text 6"/>
          <p:cNvSpPr/>
          <p:nvPr/>
        </p:nvSpPr>
        <p:spPr>
          <a:xfrm>
            <a:off x="9881354" y="359163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Estilo de Liderazgo</a:t>
            </a:r>
            <a:endParaRPr lang="en-US" sz="2430" dirty="0"/>
          </a:p>
        </p:txBody>
      </p:sp>
      <p:sp>
        <p:nvSpPr>
          <p:cNvPr id="10" name="Text 7"/>
          <p:cNvSpPr/>
          <p:nvPr/>
        </p:nvSpPr>
        <p:spPr>
          <a:xfrm>
            <a:off x="9881354" y="4224218"/>
            <a:ext cx="3898821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Fomento del debate, pero decisiones finales centralizadas. Sesiones de </a:t>
            </a:r>
            <a:r>
              <a:rPr lang="en-US" sz="1944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alineación</a:t>
            </a: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entre </a:t>
            </a:r>
            <a:r>
              <a:rPr lang="en-US" sz="1944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responsables</a:t>
            </a: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</a:t>
            </a:r>
            <a:r>
              <a:rPr lang="en-US" sz="1944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departamento</a:t>
            </a: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944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trimestrales</a:t>
            </a: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9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5326" y="1206579"/>
            <a:ext cx="7733348" cy="12596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959"/>
              </a:lnSpc>
              <a:buNone/>
            </a:pPr>
            <a:r>
              <a:rPr lang="en-US" sz="3967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Liderazgo Transformacional: Beneficios</a:t>
            </a:r>
            <a:endParaRPr lang="en-US" sz="3967" dirty="0"/>
          </a:p>
        </p:txBody>
      </p:sp>
      <p:sp>
        <p:nvSpPr>
          <p:cNvPr id="6" name="Shape 2"/>
          <p:cNvSpPr/>
          <p:nvPr/>
        </p:nvSpPr>
        <p:spPr>
          <a:xfrm>
            <a:off x="705326" y="2768560"/>
            <a:ext cx="7733348" cy="1498759"/>
          </a:xfrm>
          <a:prstGeom prst="roundRect">
            <a:avLst>
              <a:gd name="adj" fmla="val 564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2977634"/>
            <a:ext cx="2519243" cy="3149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0"/>
              </a:lnSpc>
              <a:buNone/>
            </a:pPr>
            <a:r>
              <a:rPr lang="en-US" sz="198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Visión Compartida</a:t>
            </a:r>
            <a:endParaRPr lang="en-US" sz="1984" dirty="0"/>
          </a:p>
        </p:txBody>
      </p:sp>
      <p:sp>
        <p:nvSpPr>
          <p:cNvPr id="8" name="Text 4"/>
          <p:cNvSpPr/>
          <p:nvPr/>
        </p:nvSpPr>
        <p:spPr>
          <a:xfrm>
            <a:off x="914400" y="3413403"/>
            <a:ext cx="7315200" cy="6448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39"/>
              </a:lnSpc>
              <a:buNone/>
            </a:pPr>
            <a:r>
              <a:rPr lang="en-US" sz="158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Alinea esfuerzos hacia objetivos comunes de profesionalización e innovación.</a:t>
            </a:r>
            <a:endParaRPr lang="en-US" sz="1587" dirty="0"/>
          </a:p>
        </p:txBody>
      </p:sp>
      <p:sp>
        <p:nvSpPr>
          <p:cNvPr id="9" name="Shape 5"/>
          <p:cNvSpPr/>
          <p:nvPr/>
        </p:nvSpPr>
        <p:spPr>
          <a:xfrm>
            <a:off x="705326" y="4468773"/>
            <a:ext cx="7733348" cy="1176337"/>
          </a:xfrm>
          <a:prstGeom prst="roundRect">
            <a:avLst>
              <a:gd name="adj" fmla="val 719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4677847"/>
            <a:ext cx="2519243" cy="3149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0"/>
              </a:lnSpc>
              <a:buNone/>
            </a:pPr>
            <a:r>
              <a:rPr lang="en-US" sz="198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Compromiso</a:t>
            </a:r>
            <a:endParaRPr lang="en-US" sz="1984" dirty="0"/>
          </a:p>
        </p:txBody>
      </p:sp>
      <p:sp>
        <p:nvSpPr>
          <p:cNvPr id="11" name="Text 7"/>
          <p:cNvSpPr/>
          <p:nvPr/>
        </p:nvSpPr>
        <p:spPr>
          <a:xfrm>
            <a:off x="914400" y="5113615"/>
            <a:ext cx="7315200" cy="32242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39"/>
              </a:lnSpc>
              <a:buNone/>
            </a:pPr>
            <a:r>
              <a:rPr lang="en-US" sz="158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Fomenta el compromiso mediante reconocimiento y recompensa de logros.</a:t>
            </a:r>
            <a:endParaRPr lang="en-US" sz="1587" dirty="0"/>
          </a:p>
        </p:txBody>
      </p:sp>
      <p:sp>
        <p:nvSpPr>
          <p:cNvPr id="12" name="Shape 8"/>
          <p:cNvSpPr/>
          <p:nvPr/>
        </p:nvSpPr>
        <p:spPr>
          <a:xfrm>
            <a:off x="705326" y="5846564"/>
            <a:ext cx="7733348" cy="1176337"/>
          </a:xfrm>
          <a:prstGeom prst="roundRect">
            <a:avLst>
              <a:gd name="adj" fmla="val 7196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6055638"/>
            <a:ext cx="2519243" cy="3149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0"/>
              </a:lnSpc>
              <a:buNone/>
            </a:pPr>
            <a:r>
              <a:rPr lang="en-US" sz="198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Desarrollo Personal</a:t>
            </a:r>
            <a:endParaRPr lang="en-US" sz="1984" dirty="0"/>
          </a:p>
        </p:txBody>
      </p:sp>
      <p:sp>
        <p:nvSpPr>
          <p:cNvPr id="14" name="Text 10"/>
          <p:cNvSpPr/>
          <p:nvPr/>
        </p:nvSpPr>
        <p:spPr>
          <a:xfrm>
            <a:off x="914400" y="6491407"/>
            <a:ext cx="7315200" cy="32242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39"/>
              </a:lnSpc>
              <a:buNone/>
            </a:pPr>
            <a:r>
              <a:rPr lang="en-US" sz="1587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Estimula el crecimiento individual y profesional de los empleados.</a:t>
            </a:r>
            <a:endParaRPr lang="en-US" sz="158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606175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4274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11085" y="2962037"/>
            <a:ext cx="10608231" cy="1213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779"/>
              </a:lnSpc>
              <a:buNone/>
            </a:pPr>
            <a:r>
              <a:rPr lang="en-US" sz="3823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Implementación</a:t>
            </a:r>
            <a:r>
              <a:rPr lang="en-US" sz="3823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del </a:t>
            </a:r>
            <a:r>
              <a:rPr lang="en-US" sz="3823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Liderazgo</a:t>
            </a:r>
            <a:r>
              <a:rPr lang="en-US" sz="3823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3823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Transformacional</a:t>
            </a:r>
            <a:endParaRPr lang="en-US" sz="3823" dirty="0"/>
          </a:p>
        </p:txBody>
      </p:sp>
      <p:sp>
        <p:nvSpPr>
          <p:cNvPr id="7" name="Text 2"/>
          <p:cNvSpPr/>
          <p:nvPr/>
        </p:nvSpPr>
        <p:spPr>
          <a:xfrm>
            <a:off x="2205276" y="5052093"/>
            <a:ext cx="2263616" cy="30337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89"/>
              </a:lnSpc>
              <a:buNone/>
            </a:pPr>
            <a:r>
              <a:rPr lang="en-US" sz="191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Visión Compartida</a:t>
            </a:r>
            <a:endParaRPr lang="en-US" sz="1911" dirty="0"/>
          </a:p>
        </p:txBody>
      </p:sp>
      <p:sp>
        <p:nvSpPr>
          <p:cNvPr id="8" name="Text 3"/>
          <p:cNvSpPr/>
          <p:nvPr/>
        </p:nvSpPr>
        <p:spPr>
          <a:xfrm>
            <a:off x="2205276" y="5954792"/>
            <a:ext cx="2263616" cy="931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47"/>
              </a:lnSpc>
              <a:buNone/>
            </a:pPr>
            <a:r>
              <a:rPr lang="en-US" sz="1529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Desarrollar y comunicar una visión clara a todos los niveles.</a:t>
            </a:r>
            <a:endParaRPr lang="en-US" sz="1529" dirty="0"/>
          </a:p>
        </p:txBody>
      </p:sp>
      <p:sp>
        <p:nvSpPr>
          <p:cNvPr id="10" name="Text 4"/>
          <p:cNvSpPr/>
          <p:nvPr/>
        </p:nvSpPr>
        <p:spPr>
          <a:xfrm>
            <a:off x="4857274" y="5052093"/>
            <a:ext cx="2263735" cy="6067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89"/>
              </a:lnSpc>
              <a:buNone/>
            </a:pPr>
            <a:r>
              <a:rPr lang="en-US" sz="191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Desarrollo Profesional</a:t>
            </a:r>
            <a:endParaRPr lang="en-US" sz="1911" dirty="0"/>
          </a:p>
        </p:txBody>
      </p:sp>
      <p:sp>
        <p:nvSpPr>
          <p:cNvPr id="11" name="Text 5"/>
          <p:cNvSpPr/>
          <p:nvPr/>
        </p:nvSpPr>
        <p:spPr>
          <a:xfrm>
            <a:off x="4703162" y="5947529"/>
            <a:ext cx="2263735" cy="124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47"/>
              </a:lnSpc>
              <a:buNone/>
            </a:pPr>
            <a:r>
              <a:rPr lang="en-US" sz="1529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Implementar programas de formación continua y mentoría.</a:t>
            </a:r>
            <a:endParaRPr lang="en-US" sz="1529" dirty="0"/>
          </a:p>
        </p:txBody>
      </p:sp>
      <p:sp>
        <p:nvSpPr>
          <p:cNvPr id="13" name="Text 6"/>
          <p:cNvSpPr/>
          <p:nvPr/>
        </p:nvSpPr>
        <p:spPr>
          <a:xfrm>
            <a:off x="7509391" y="5052093"/>
            <a:ext cx="2263616" cy="6067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89"/>
              </a:lnSpc>
              <a:buNone/>
            </a:pPr>
            <a:r>
              <a:rPr lang="en-US" sz="191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Espacios de Innovación</a:t>
            </a:r>
            <a:endParaRPr lang="en-US" sz="1911" dirty="0"/>
          </a:p>
        </p:txBody>
      </p:sp>
      <p:sp>
        <p:nvSpPr>
          <p:cNvPr id="14" name="Text 7"/>
          <p:cNvSpPr/>
          <p:nvPr/>
        </p:nvSpPr>
        <p:spPr>
          <a:xfrm>
            <a:off x="7467276" y="5947529"/>
            <a:ext cx="2263616" cy="931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47"/>
              </a:lnSpc>
              <a:buNone/>
            </a:pPr>
            <a:r>
              <a:rPr lang="en-US" sz="1529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Crear tiempos para aportar ideas y trabajar nuevas líneas.</a:t>
            </a:r>
            <a:endParaRPr lang="en-US" sz="1529" dirty="0"/>
          </a:p>
        </p:txBody>
      </p:sp>
      <p:sp>
        <p:nvSpPr>
          <p:cNvPr id="16" name="Text 8"/>
          <p:cNvSpPr/>
          <p:nvPr/>
        </p:nvSpPr>
        <p:spPr>
          <a:xfrm>
            <a:off x="10161389" y="5052093"/>
            <a:ext cx="2263735" cy="6067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89"/>
              </a:lnSpc>
              <a:buNone/>
            </a:pPr>
            <a:r>
              <a:rPr lang="en-US" sz="191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Celebración de Logros</a:t>
            </a:r>
            <a:endParaRPr lang="en-US" sz="1911" dirty="0"/>
          </a:p>
        </p:txBody>
      </p:sp>
      <p:sp>
        <p:nvSpPr>
          <p:cNvPr id="17" name="Text 9"/>
          <p:cNvSpPr/>
          <p:nvPr/>
        </p:nvSpPr>
        <p:spPr>
          <a:xfrm>
            <a:off x="10088452" y="5942293"/>
            <a:ext cx="2263735" cy="931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47"/>
              </a:lnSpc>
              <a:buNone/>
            </a:pPr>
            <a:r>
              <a:rPr lang="en-US" sz="1529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Reconocer y celebrar los éxitos del equipo y la empresa.</a:t>
            </a:r>
            <a:endParaRPr lang="en-US" sz="1529" dirty="0"/>
          </a:p>
        </p:txBody>
      </p:sp>
      <p:pic>
        <p:nvPicPr>
          <p:cNvPr id="22" name="Image 5" descr="preencoded.png">
            <a:extLst>
              <a:ext uri="{FF2B5EF4-FFF2-40B4-BE49-F238E27FC236}">
                <a16:creationId xmlns:a16="http://schemas.microsoft.com/office/drawing/2014/main" id="{7377A64E-ECE2-AEB6-E142-848612A04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070" y="3943005"/>
            <a:ext cx="2652117" cy="776764"/>
          </a:xfrm>
          <a:prstGeom prst="rect">
            <a:avLst/>
          </a:prstGeom>
        </p:spPr>
      </p:pic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FEADAF6E-7B94-B3D5-A797-D1403DD1AD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4779" y="3943005"/>
            <a:ext cx="2651998" cy="776764"/>
          </a:xfrm>
          <a:prstGeom prst="rect">
            <a:avLst/>
          </a:prstGeom>
        </p:spPr>
      </p:pic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F7ACB700-33E9-1374-3074-D2E8230431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6777" y="3943005"/>
            <a:ext cx="2652117" cy="776764"/>
          </a:xfrm>
          <a:prstGeom prst="rect">
            <a:avLst/>
          </a:prstGeom>
        </p:spPr>
      </p:pic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F55DAE80-57D9-F01B-6699-5036472E06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8894" y="3943005"/>
            <a:ext cx="2651998" cy="7767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732949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Estrategia y Tácticas</a:t>
            </a:r>
            <a:endParaRPr lang="en-US" sz="4860" dirty="0"/>
          </a:p>
        </p:txBody>
      </p:sp>
      <p:sp>
        <p:nvSpPr>
          <p:cNvPr id="6" name="Shape 2"/>
          <p:cNvSpPr/>
          <p:nvPr/>
        </p:nvSpPr>
        <p:spPr>
          <a:xfrm>
            <a:off x="864037" y="1874758"/>
            <a:ext cx="7415927" cy="5621893"/>
          </a:xfrm>
          <a:prstGeom prst="roundRect">
            <a:avLst>
              <a:gd name="adj" fmla="val 1844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79277" y="1889998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1126093" y="2045732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Estrategia</a:t>
            </a:r>
            <a:endParaRPr lang="en-US" sz="1944" dirty="0"/>
          </a:p>
        </p:txBody>
      </p:sp>
      <p:sp>
        <p:nvSpPr>
          <p:cNvPr id="9" name="Text 5"/>
          <p:cNvSpPr/>
          <p:nvPr/>
        </p:nvSpPr>
        <p:spPr>
          <a:xfrm>
            <a:off x="4822627" y="2045732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Tácticas</a:t>
            </a:r>
            <a:endParaRPr lang="en-US" sz="1944" dirty="0"/>
          </a:p>
        </p:txBody>
      </p:sp>
      <p:sp>
        <p:nvSpPr>
          <p:cNvPr id="10" name="Shape 6"/>
          <p:cNvSpPr/>
          <p:nvPr/>
        </p:nvSpPr>
        <p:spPr>
          <a:xfrm>
            <a:off x="879277" y="2596515"/>
            <a:ext cx="7385447" cy="18916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126093" y="2752249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Comunicación efectiva</a:t>
            </a:r>
            <a:endParaRPr lang="en-US" sz="1944" dirty="0"/>
          </a:p>
        </p:txBody>
      </p:sp>
      <p:sp>
        <p:nvSpPr>
          <p:cNvPr id="12" name="Text 8"/>
          <p:cNvSpPr/>
          <p:nvPr/>
        </p:nvSpPr>
        <p:spPr>
          <a:xfrm>
            <a:off x="4822627" y="2752249"/>
            <a:ext cx="3195280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Reuniones regulares, boletines internos, plataforma de comunicación digital</a:t>
            </a:r>
            <a:endParaRPr lang="en-US" sz="1944" dirty="0"/>
          </a:p>
        </p:txBody>
      </p:sp>
      <p:sp>
        <p:nvSpPr>
          <p:cNvPr id="13" name="Shape 9"/>
          <p:cNvSpPr/>
          <p:nvPr/>
        </p:nvSpPr>
        <p:spPr>
          <a:xfrm>
            <a:off x="879277" y="4488180"/>
            <a:ext cx="7385447" cy="149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126093" y="4643914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Desarrollo de liderazgo</a:t>
            </a:r>
            <a:endParaRPr lang="en-US" sz="1944" dirty="0"/>
          </a:p>
        </p:txBody>
      </p:sp>
      <p:sp>
        <p:nvSpPr>
          <p:cNvPr id="15" name="Text 11"/>
          <p:cNvSpPr/>
          <p:nvPr/>
        </p:nvSpPr>
        <p:spPr>
          <a:xfrm>
            <a:off x="4822627" y="4643914"/>
            <a:ext cx="3195280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Talleres de liderazgo, coaching ejecutivo, rotación de roles</a:t>
            </a:r>
            <a:endParaRPr lang="en-US" sz="1944" dirty="0"/>
          </a:p>
        </p:txBody>
      </p:sp>
      <p:sp>
        <p:nvSpPr>
          <p:cNvPr id="16" name="Shape 12"/>
          <p:cNvSpPr/>
          <p:nvPr/>
        </p:nvSpPr>
        <p:spPr>
          <a:xfrm>
            <a:off x="879277" y="5984796"/>
            <a:ext cx="7385447" cy="14966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126093" y="6140529"/>
            <a:ext cx="31952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Innovación continua</a:t>
            </a:r>
            <a:endParaRPr lang="en-US" sz="1944" dirty="0"/>
          </a:p>
        </p:txBody>
      </p:sp>
      <p:sp>
        <p:nvSpPr>
          <p:cNvPr id="18" name="Text 14"/>
          <p:cNvSpPr/>
          <p:nvPr/>
        </p:nvSpPr>
        <p:spPr>
          <a:xfrm>
            <a:off x="4822627" y="6140529"/>
            <a:ext cx="3195280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Sesiones</a:t>
            </a: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brainstorming, programa de sugerencias, proyectos piloto</a:t>
            </a:r>
            <a:endParaRPr lang="en-US" sz="19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94465" y="880943"/>
            <a:ext cx="5618321" cy="6322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978"/>
              </a:lnSpc>
              <a:buNone/>
            </a:pPr>
            <a:r>
              <a:rPr lang="en-US" sz="3982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Evaluación y Monitoreo</a:t>
            </a:r>
            <a:endParaRPr lang="en-US" sz="3982" dirty="0"/>
          </a:p>
        </p:txBody>
      </p:sp>
      <p:sp>
        <p:nvSpPr>
          <p:cNvPr id="6" name="Shape 2"/>
          <p:cNvSpPr/>
          <p:nvPr/>
        </p:nvSpPr>
        <p:spPr>
          <a:xfrm>
            <a:off x="6194465" y="2044065"/>
            <a:ext cx="455176" cy="455176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377226" y="2119908"/>
            <a:ext cx="89654" cy="3034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89"/>
              </a:lnSpc>
              <a:buNone/>
            </a:pPr>
            <a:r>
              <a:rPr lang="en-US" sz="2389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389" dirty="0"/>
          </a:p>
        </p:txBody>
      </p:sp>
      <p:sp>
        <p:nvSpPr>
          <p:cNvPr id="8" name="Text 4"/>
          <p:cNvSpPr/>
          <p:nvPr/>
        </p:nvSpPr>
        <p:spPr>
          <a:xfrm>
            <a:off x="6851928" y="2044065"/>
            <a:ext cx="3142774" cy="3161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9"/>
              </a:lnSpc>
              <a:buNone/>
            </a:pPr>
            <a:r>
              <a:rPr lang="en-US" sz="199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Encuestas de Compromiso</a:t>
            </a:r>
            <a:endParaRPr lang="en-US" sz="1991" dirty="0"/>
          </a:p>
        </p:txBody>
      </p:sp>
      <p:sp>
        <p:nvSpPr>
          <p:cNvPr id="9" name="Text 5"/>
          <p:cNvSpPr/>
          <p:nvPr/>
        </p:nvSpPr>
        <p:spPr>
          <a:xfrm>
            <a:off x="6851928" y="2481501"/>
            <a:ext cx="7070407" cy="647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49"/>
              </a:lnSpc>
              <a:buNone/>
            </a:pPr>
            <a:r>
              <a:rPr lang="en-US" sz="159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Realizar encuestas trimestrales para medir el compromiso y satisfacción de los empleados.</a:t>
            </a:r>
            <a:endParaRPr lang="en-US" sz="1593" dirty="0"/>
          </a:p>
        </p:txBody>
      </p:sp>
      <p:sp>
        <p:nvSpPr>
          <p:cNvPr id="10" name="Shape 6"/>
          <p:cNvSpPr/>
          <p:nvPr/>
        </p:nvSpPr>
        <p:spPr>
          <a:xfrm>
            <a:off x="6194465" y="3558540"/>
            <a:ext cx="455176" cy="455176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42936" y="3634383"/>
            <a:ext cx="158234" cy="3034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89"/>
              </a:lnSpc>
              <a:buNone/>
            </a:pPr>
            <a:r>
              <a:rPr lang="en-US" sz="2389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389" dirty="0"/>
          </a:p>
        </p:txBody>
      </p:sp>
      <p:sp>
        <p:nvSpPr>
          <p:cNvPr id="12" name="Text 8"/>
          <p:cNvSpPr/>
          <p:nvPr/>
        </p:nvSpPr>
        <p:spPr>
          <a:xfrm>
            <a:off x="6851928" y="3558540"/>
            <a:ext cx="2528768" cy="3161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9"/>
              </a:lnSpc>
              <a:buNone/>
            </a:pPr>
            <a:r>
              <a:rPr lang="en-US" sz="199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KPIs de Desempeño</a:t>
            </a:r>
            <a:endParaRPr lang="en-US" sz="1991" dirty="0"/>
          </a:p>
        </p:txBody>
      </p:sp>
      <p:sp>
        <p:nvSpPr>
          <p:cNvPr id="13" name="Text 9"/>
          <p:cNvSpPr/>
          <p:nvPr/>
        </p:nvSpPr>
        <p:spPr>
          <a:xfrm>
            <a:off x="6851928" y="3995976"/>
            <a:ext cx="7070407" cy="647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49"/>
              </a:lnSpc>
              <a:buNone/>
            </a:pPr>
            <a:r>
              <a:rPr lang="en-US" sz="159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Establecer y monitorear indicadores clave de desempeño alineados con los objetivos transformacionales.</a:t>
            </a:r>
            <a:endParaRPr lang="en-US" sz="1593" dirty="0"/>
          </a:p>
        </p:txBody>
      </p:sp>
      <p:sp>
        <p:nvSpPr>
          <p:cNvPr id="14" name="Shape 10"/>
          <p:cNvSpPr/>
          <p:nvPr/>
        </p:nvSpPr>
        <p:spPr>
          <a:xfrm>
            <a:off x="6194465" y="5073015"/>
            <a:ext cx="455176" cy="455176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36863" y="5148858"/>
            <a:ext cx="170378" cy="3034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89"/>
              </a:lnSpc>
              <a:buNone/>
            </a:pPr>
            <a:r>
              <a:rPr lang="en-US" sz="2389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389" dirty="0"/>
          </a:p>
        </p:txBody>
      </p:sp>
      <p:sp>
        <p:nvSpPr>
          <p:cNvPr id="16" name="Text 12"/>
          <p:cNvSpPr/>
          <p:nvPr/>
        </p:nvSpPr>
        <p:spPr>
          <a:xfrm>
            <a:off x="6851928" y="5073015"/>
            <a:ext cx="2528768" cy="3161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9"/>
              </a:lnSpc>
              <a:buNone/>
            </a:pPr>
            <a:r>
              <a:rPr lang="en-US" sz="199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Feedback 360°</a:t>
            </a:r>
            <a:endParaRPr lang="en-US" sz="1991" dirty="0"/>
          </a:p>
        </p:txBody>
      </p:sp>
      <p:sp>
        <p:nvSpPr>
          <p:cNvPr id="17" name="Text 13"/>
          <p:cNvSpPr/>
          <p:nvPr/>
        </p:nvSpPr>
        <p:spPr>
          <a:xfrm>
            <a:off x="6851928" y="5510451"/>
            <a:ext cx="7070407" cy="3236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49"/>
              </a:lnSpc>
              <a:buNone/>
            </a:pPr>
            <a:r>
              <a:rPr lang="en-US" sz="159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Implementar evaluaciones de 360 grados para líderes y gerentes clave.</a:t>
            </a:r>
            <a:endParaRPr lang="en-US" sz="1593" dirty="0"/>
          </a:p>
        </p:txBody>
      </p:sp>
      <p:sp>
        <p:nvSpPr>
          <p:cNvPr id="18" name="Shape 14"/>
          <p:cNvSpPr/>
          <p:nvPr/>
        </p:nvSpPr>
        <p:spPr>
          <a:xfrm>
            <a:off x="6194465" y="6263878"/>
            <a:ext cx="455176" cy="455176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44841" y="6339721"/>
            <a:ext cx="154305" cy="3034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89"/>
              </a:lnSpc>
              <a:buNone/>
            </a:pPr>
            <a:r>
              <a:rPr lang="en-US" sz="2389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389" dirty="0"/>
          </a:p>
        </p:txBody>
      </p:sp>
      <p:sp>
        <p:nvSpPr>
          <p:cNvPr id="20" name="Text 16"/>
          <p:cNvSpPr/>
          <p:nvPr/>
        </p:nvSpPr>
        <p:spPr>
          <a:xfrm>
            <a:off x="6851928" y="6263878"/>
            <a:ext cx="2711410" cy="3161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89"/>
              </a:lnSpc>
              <a:buNone/>
            </a:pPr>
            <a:r>
              <a:rPr lang="en-US" sz="199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Revisiones de Proyecto</a:t>
            </a:r>
            <a:endParaRPr lang="en-US" sz="1991" dirty="0"/>
          </a:p>
        </p:txBody>
      </p:sp>
      <p:sp>
        <p:nvSpPr>
          <p:cNvPr id="21" name="Text 17"/>
          <p:cNvSpPr/>
          <p:nvPr/>
        </p:nvSpPr>
        <p:spPr>
          <a:xfrm>
            <a:off x="6851928" y="6701314"/>
            <a:ext cx="7070407" cy="647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49"/>
              </a:lnSpc>
              <a:buNone/>
            </a:pPr>
            <a:r>
              <a:rPr lang="en-US" sz="1593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Conducir revisiones periódicas de proyectos para evaluar la implementación y resultados.</a:t>
            </a:r>
            <a:endParaRPr lang="en-US" sz="159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4494371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Conclusión</a:t>
            </a:r>
            <a:endParaRPr lang="en-US" sz="4860" dirty="0"/>
          </a:p>
        </p:txBody>
      </p:sp>
      <p:sp>
        <p:nvSpPr>
          <p:cNvPr id="6" name="Text 2"/>
          <p:cNvSpPr/>
          <p:nvPr/>
        </p:nvSpPr>
        <p:spPr>
          <a:xfrm>
            <a:off x="864037" y="5636181"/>
            <a:ext cx="12902327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liderazgo transformacional permitirá a GRUPO CAL BLAY SL enfrentar desafíos futuros. Fomentará innovación, colaboración y adaptación continua, esenciales para el crecimiento sostenible y éxito a largo plazo.</a:t>
            </a:r>
            <a:endParaRPr lang="en-US" sz="19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ici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507</Words>
  <Application>Microsoft Office PowerPoint</Application>
  <PresentationFormat>Personalitzat</PresentationFormat>
  <Paragraphs>96</Paragraphs>
  <Slides>10</Slides>
  <Notes>10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10</vt:i4>
      </vt:variant>
    </vt:vector>
  </HeadingPairs>
  <TitlesOfParts>
    <vt:vector size="14" baseType="lpstr">
      <vt:lpstr>Arial</vt:lpstr>
      <vt:lpstr>Corben</vt:lpstr>
      <vt:lpstr>Nobile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oriol Calblay</cp:lastModifiedBy>
  <cp:revision>1</cp:revision>
  <dcterms:created xsi:type="dcterms:W3CDTF">2024-07-24T07:29:15Z</dcterms:created>
  <dcterms:modified xsi:type="dcterms:W3CDTF">2024-07-24T07:39:49Z</dcterms:modified>
</cp:coreProperties>
</file>