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Calblay" userId="e6c7bcb4eb356115" providerId="LiveId" clId="{BE050874-058C-4B97-B758-1FF3A33FFFD1}"/>
    <pc:docChg chg="undo custSel modSld">
      <pc:chgData name="oriol Calblay" userId="e6c7bcb4eb356115" providerId="LiveId" clId="{BE050874-058C-4B97-B758-1FF3A33FFFD1}" dt="2024-06-19T18:05:35.699" v="7" actId="1076"/>
      <pc:docMkLst>
        <pc:docMk/>
      </pc:docMkLst>
      <pc:sldChg chg="modSp mod">
        <pc:chgData name="oriol Calblay" userId="e6c7bcb4eb356115" providerId="LiveId" clId="{BE050874-058C-4B97-B758-1FF3A33FFFD1}" dt="2024-06-19T18:05:35.699" v="7" actId="1076"/>
        <pc:sldMkLst>
          <pc:docMk/>
          <pc:sldMk cId="0" sldId="261"/>
        </pc:sldMkLst>
        <pc:spChg chg="mod">
          <ac:chgData name="oriol Calblay" userId="e6c7bcb4eb356115" providerId="LiveId" clId="{BE050874-058C-4B97-B758-1FF3A33FFFD1}" dt="2024-06-19T18:05:35.699" v="7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oriol Calblay" userId="e6c7bcb4eb356115" providerId="LiveId" clId="{BE050874-058C-4B97-B758-1FF3A33FFFD1}" dt="2024-06-19T18:05:31.272" v="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oriol Calblay" userId="e6c7bcb4eb356115" providerId="LiveId" clId="{BE050874-058C-4B97-B758-1FF3A33FFFD1}" dt="2024-06-19T18:05:35.022" v="6" actId="1076"/>
          <ac:spMkLst>
            <pc:docMk/>
            <pc:sldMk cId="0" sldId="261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52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032" y="605433"/>
            <a:ext cx="7495937" cy="473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462"/>
              </a:lnSpc>
              <a:buNone/>
            </a:pPr>
            <a:r>
              <a:rPr lang="en-US" sz="597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de Financiación Internacional para Dulce Azúcar S.A. en Brasil</a:t>
            </a:r>
            <a:endParaRPr lang="en-US" sz="5970" dirty="0"/>
          </a:p>
        </p:txBody>
      </p:sp>
      <p:sp>
        <p:nvSpPr>
          <p:cNvPr id="6" name="Text 3"/>
          <p:cNvSpPr/>
          <p:nvPr/>
        </p:nvSpPr>
        <p:spPr>
          <a:xfrm>
            <a:off x="824032" y="5673685"/>
            <a:ext cx="7495937" cy="1318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96"/>
              </a:lnSpc>
              <a:buNone/>
            </a:pPr>
            <a:r>
              <a:rPr lang="en-US" sz="173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documento presenta una estrategia de financiación internacional para la expansión de Dulce Azúcar S.A. en el mercado brasileño. El objetivo es aumentar la presencia internacional y aprovechar el crecimiento del mercado azucarero en Brasil.</a:t>
            </a:r>
            <a:endParaRPr lang="en-US" sz="1730" dirty="0"/>
          </a:p>
        </p:txBody>
      </p:sp>
      <p:sp>
        <p:nvSpPr>
          <p:cNvPr id="7" name="Shape 4"/>
          <p:cNvSpPr/>
          <p:nvPr/>
        </p:nvSpPr>
        <p:spPr>
          <a:xfrm>
            <a:off x="824032" y="7256026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E0E48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4998" y="7383066"/>
            <a:ext cx="129659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68" dirty="0">
                <a:solidFill>
                  <a:srgbClr val="3C38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</a:t>
            </a:r>
            <a:endParaRPr lang="en-US" sz="768" dirty="0"/>
          </a:p>
        </p:txBody>
      </p:sp>
      <p:sp>
        <p:nvSpPr>
          <p:cNvPr id="9" name="Text 6"/>
          <p:cNvSpPr/>
          <p:nvPr/>
        </p:nvSpPr>
        <p:spPr>
          <a:xfrm>
            <a:off x="1285399" y="7239595"/>
            <a:ext cx="1578531" cy="3844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28"/>
              </a:lnSpc>
              <a:buNone/>
            </a:pPr>
            <a:r>
              <a:rPr lang="en-US" sz="216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Oriol Puig</a:t>
            </a:r>
            <a:endParaRPr lang="en-US" sz="21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1745813"/>
            <a:ext cx="93064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del Proyecto de Internacionalización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490799" y="371772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9393" y="3801070"/>
            <a:ext cx="142637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5212913" y="37177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5212913" y="4198144"/>
            <a:ext cx="38200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Expansión de Dulce Azúcar S.A. en el mercado brasileño.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255085" y="371772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201" y="3801070"/>
            <a:ext cx="173712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9977199" y="37177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Justificación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9977199" y="4198144"/>
            <a:ext cx="382000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Aumentar la presencia internacional y aprovechar el crecimiento del mercado azucarero en Brasil.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490799" y="566999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51772" y="5753338"/>
            <a:ext cx="17799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5212913" y="566999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Acción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5212913" y="6150412"/>
            <a:ext cx="8584287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Establecimiento de distribución en el canal HORECA, con delegaciones en Brasil.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598420"/>
            <a:ext cx="78282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del Mercado Brasileño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84821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Demanda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4417576"/>
            <a:ext cx="315634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 demanda de azúcar en el sector HORECA.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84821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Competencia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4417576"/>
            <a:ext cx="315634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de los competidores locales e internacionales.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848219"/>
            <a:ext cx="315634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Factores Culturales y Económicos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4764762"/>
            <a:ext cx="315634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Adaptación a las preferencias del consumidor brasileño.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282071"/>
            <a:ext cx="740390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Costos e Impuestos en Brasil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3420785"/>
            <a:ext cx="10554414" cy="2526625"/>
          </a:xfrm>
          <a:prstGeom prst="roundRect">
            <a:avLst>
              <a:gd name="adj" fmla="val 39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5613" y="3428405"/>
            <a:ext cx="10539174" cy="9482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67783" y="3569256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Aranceles de Importación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1181" y="3569256"/>
            <a:ext cx="482143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Descripción de los aranceles aplicables al azúcar.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2045613" y="4376618"/>
            <a:ext cx="10539174" cy="6149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67783" y="4517469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Impuestos Locales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1181" y="4517469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IVA, impuestos estatales y municipales.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2045613" y="4991576"/>
            <a:ext cx="10539174" cy="9482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67783" y="5132427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Otros Costos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1181" y="5132427"/>
            <a:ext cx="482143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Gastos de logística, almacenamiento y distribución.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37993" y="4019788"/>
            <a:ext cx="820483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Medios de Pago Internacionales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2037993" y="5047417"/>
            <a:ext cx="3370064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83" y="527720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Preferencias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2267783" y="5757624"/>
            <a:ext cx="2910483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Crédito Documentario (Letter of Credit - L/C).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630228" y="5047417"/>
            <a:ext cx="3370064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60018" y="527720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60018" y="5757624"/>
            <a:ext cx="2910483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Seguridad en el cobro y reducción de riesgos de impago.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222462" y="5047417"/>
            <a:ext cx="3370064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52253" y="527720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Alternativas</a:t>
            </a:r>
            <a:endParaRPr lang="en-US" sz="2187" dirty="0"/>
          </a:p>
        </p:txBody>
      </p:sp>
      <p:sp>
        <p:nvSpPr>
          <p:cNvPr id="14" name="Text 11"/>
          <p:cNvSpPr/>
          <p:nvPr/>
        </p:nvSpPr>
        <p:spPr>
          <a:xfrm>
            <a:off x="9452253" y="5757624"/>
            <a:ext cx="2910483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Transferencia bancaria (SWIFT), Cobranza Documentaria.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-92468" y="-26125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934760"/>
            <a:ext cx="871299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Incoterms y Condiciones de Venta</a:t>
            </a:r>
            <a:endParaRPr lang="en-US" sz="437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799" y="1962388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35028" y="21845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Incoterm Sugerido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5935028" y="6239470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FOB (Free on Board).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799" y="3739872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35028" y="39620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2187" dirty="0"/>
          </a:p>
        </p:txBody>
      </p:sp>
      <p:sp>
        <p:nvSpPr>
          <p:cNvPr id="11" name="Text 6"/>
          <p:cNvSpPr/>
          <p:nvPr/>
        </p:nvSpPr>
        <p:spPr>
          <a:xfrm>
            <a:off x="5935028" y="4442460"/>
            <a:ext cx="7862173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control de costos de transporte y responsabilidad hasta el puerto de origen.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799" y="5517356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35028" y="57395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Otras Opciones</a:t>
            </a:r>
            <a:endParaRPr lang="en-US" sz="2187" dirty="0"/>
          </a:p>
        </p:txBody>
      </p:sp>
      <p:sp>
        <p:nvSpPr>
          <p:cNvPr id="14" name="Text 8"/>
          <p:cNvSpPr/>
          <p:nvPr/>
        </p:nvSpPr>
        <p:spPr>
          <a:xfrm>
            <a:off x="5935027" y="2702540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CIF (Cost, Insurance, and Freight) para mayor seguridad y previsibilidad.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738908"/>
            <a:ext cx="93064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Fuentes de Financiación Recomendadas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71082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1793" y="3794165"/>
            <a:ext cx="142637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1555313" y="3710821"/>
            <a:ext cx="3820001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Líneas de Crédito para Exportación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555313" y="4538424"/>
            <a:ext cx="38200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Financiamiento especializado para operaciones de exportación.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597485" y="371082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601" y="3794165"/>
            <a:ext cx="173712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319599" y="371082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Crédito Bancario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319599" y="4191238"/>
            <a:ext cx="38200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Flexibilidad y disponibilidad para cubrir necesidades de capital.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33199" y="567701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4172" y="5760363"/>
            <a:ext cx="17799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1555313" y="5677019"/>
            <a:ext cx="2927628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Factoring Internacional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555313" y="6157436"/>
            <a:ext cx="8584287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inmediata de la liquidez mediante la venta de cuentas por cobrar.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02738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Riesgos en el Comercio Internacional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3735824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51342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Riesgo Cambiario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993838"/>
            <a:ext cx="3295888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Utilización de contratos a futuro y opciones para mitigar el riesgo de fluctuaciones del tipo de cambio.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3735824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51342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Riesgo de Crédito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993838"/>
            <a:ext cx="3296007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Seguro de crédito a la exportación para protegerse contra impagos.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735824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51342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Riesgos Logísticos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993838"/>
            <a:ext cx="3296007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Seguros de transporte para cubrir pérdidas o daños durante el envío.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370</Words>
  <Application>Microsoft Office PowerPoint</Application>
  <PresentationFormat>Personalitzat</PresentationFormat>
  <Paragraphs>67</Paragraphs>
  <Slides>8</Slides>
  <Notes>8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8</vt:i4>
      </vt:variant>
    </vt:vector>
  </HeadingPairs>
  <TitlesOfParts>
    <vt:vector size="12" baseType="lpstr">
      <vt:lpstr>Arial</vt:lpstr>
      <vt:lpstr>Raleway</vt:lpstr>
      <vt:lpstr>Roboto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oriol Calblay</cp:lastModifiedBy>
  <cp:revision>2</cp:revision>
  <dcterms:created xsi:type="dcterms:W3CDTF">2024-06-16T18:03:01Z</dcterms:created>
  <dcterms:modified xsi:type="dcterms:W3CDTF">2024-06-19T18:05:36Z</dcterms:modified>
</cp:coreProperties>
</file>