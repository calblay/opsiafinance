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38ABF-9D49-4C1E-AFA7-0C224B99CDEF}" v="2" dt="2024-06-26T18:03:09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iol Calblay" userId="e6c7bcb4eb356115" providerId="LiveId" clId="{CFA38ABF-9D49-4C1E-AFA7-0C224B99CDEF}"/>
    <pc:docChg chg="undo custSel addSld modSld sldOrd">
      <pc:chgData name="oriol Calblay" userId="e6c7bcb4eb356115" providerId="LiveId" clId="{CFA38ABF-9D49-4C1E-AFA7-0C224B99CDEF}" dt="2024-06-26T18:03:54.988" v="171"/>
      <pc:docMkLst>
        <pc:docMk/>
      </pc:docMkLst>
      <pc:sldChg chg="modSp mod">
        <pc:chgData name="oriol Calblay" userId="e6c7bcb4eb356115" providerId="LiveId" clId="{CFA38ABF-9D49-4C1E-AFA7-0C224B99CDEF}" dt="2024-06-24T15:25:02.080" v="2" actId="255"/>
        <pc:sldMkLst>
          <pc:docMk/>
          <pc:sldMk cId="0" sldId="256"/>
        </pc:sldMkLst>
        <pc:spChg chg="mod">
          <ac:chgData name="oriol Calblay" userId="e6c7bcb4eb356115" providerId="LiveId" clId="{CFA38ABF-9D49-4C1E-AFA7-0C224B99CDEF}" dt="2024-06-24T15:25:02.080" v="2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oriol Calblay" userId="e6c7bcb4eb356115" providerId="LiveId" clId="{CFA38ABF-9D49-4C1E-AFA7-0C224B99CDEF}" dt="2024-06-24T15:24:45.214" v="1" actId="20577"/>
          <ac:spMkLst>
            <pc:docMk/>
            <pc:sldMk cId="0" sldId="256"/>
            <ac:spMk id="9" creationId="{00000000-0000-0000-0000-000000000000}"/>
          </ac:spMkLst>
        </pc:spChg>
      </pc:sldChg>
      <pc:sldChg chg="delSp mod">
        <pc:chgData name="oriol Calblay" userId="e6c7bcb4eb356115" providerId="LiveId" clId="{CFA38ABF-9D49-4C1E-AFA7-0C224B99CDEF}" dt="2024-06-26T17:59:14.857" v="66" actId="478"/>
        <pc:sldMkLst>
          <pc:docMk/>
          <pc:sldMk cId="0" sldId="263"/>
        </pc:sldMkLst>
        <pc:picChg chg="del">
          <ac:chgData name="oriol Calblay" userId="e6c7bcb4eb356115" providerId="LiveId" clId="{CFA38ABF-9D49-4C1E-AFA7-0C224B99CDEF}" dt="2024-06-26T17:59:14.857" v="66" actId="478"/>
          <ac:picMkLst>
            <pc:docMk/>
            <pc:sldMk cId="0" sldId="263"/>
            <ac:picMk id="15" creationId="{00000000-0000-0000-0000-000000000000}"/>
          </ac:picMkLst>
        </pc:picChg>
      </pc:sldChg>
      <pc:sldChg chg="addSp delSp modSp add mod ord">
        <pc:chgData name="oriol Calblay" userId="e6c7bcb4eb356115" providerId="LiveId" clId="{CFA38ABF-9D49-4C1E-AFA7-0C224B99CDEF}" dt="2024-06-26T18:03:54.988" v="171"/>
        <pc:sldMkLst>
          <pc:docMk/>
          <pc:sldMk cId="3586026680" sldId="266"/>
        </pc:sldMkLst>
        <pc:spChg chg="del mod">
          <ac:chgData name="oriol Calblay" userId="e6c7bcb4eb356115" providerId="LiveId" clId="{CFA38ABF-9D49-4C1E-AFA7-0C224B99CDEF}" dt="2024-06-26T17:59:23.346" v="68" actId="478"/>
          <ac:spMkLst>
            <pc:docMk/>
            <pc:sldMk cId="3586026680" sldId="266"/>
            <ac:spMk id="3" creationId="{00000000-0000-0000-0000-000000000000}"/>
          </ac:spMkLst>
        </pc:spChg>
        <pc:spChg chg="mod">
          <ac:chgData name="oriol Calblay" userId="e6c7bcb4eb356115" providerId="LiveId" clId="{CFA38ABF-9D49-4C1E-AFA7-0C224B99CDEF}" dt="2024-06-26T18:03:40.397" v="168" actId="1076"/>
          <ac:spMkLst>
            <pc:docMk/>
            <pc:sldMk cId="3586026680" sldId="266"/>
            <ac:spMk id="5" creationId="{00000000-0000-0000-0000-000000000000}"/>
          </ac:spMkLst>
        </pc:spChg>
        <pc:spChg chg="del mod">
          <ac:chgData name="oriol Calblay" userId="e6c7bcb4eb356115" providerId="LiveId" clId="{CFA38ABF-9D49-4C1E-AFA7-0C224B99CDEF}" dt="2024-06-26T17:59:27.427" v="70" actId="478"/>
          <ac:spMkLst>
            <pc:docMk/>
            <pc:sldMk cId="3586026680" sldId="266"/>
            <ac:spMk id="7" creationId="{00000000-0000-0000-0000-000000000000}"/>
          </ac:spMkLst>
        </pc:spChg>
        <pc:spChg chg="mod">
          <ac:chgData name="oriol Calblay" userId="e6c7bcb4eb356115" providerId="LiveId" clId="{CFA38ABF-9D49-4C1E-AFA7-0C224B99CDEF}" dt="2024-06-26T18:03:43.995" v="169" actId="1076"/>
          <ac:spMkLst>
            <pc:docMk/>
            <pc:sldMk cId="3586026680" sldId="266"/>
            <ac:spMk id="8" creationId="{00000000-0000-0000-0000-000000000000}"/>
          </ac:spMkLst>
        </pc:spChg>
        <pc:spChg chg="del">
          <ac:chgData name="oriol Calblay" userId="e6c7bcb4eb356115" providerId="LiveId" clId="{CFA38ABF-9D49-4C1E-AFA7-0C224B99CDEF}" dt="2024-06-26T17:59:29.571" v="71" actId="478"/>
          <ac:spMkLst>
            <pc:docMk/>
            <pc:sldMk cId="3586026680" sldId="266"/>
            <ac:spMk id="10" creationId="{00000000-0000-0000-0000-000000000000}"/>
          </ac:spMkLst>
        </pc:spChg>
        <pc:spChg chg="del">
          <ac:chgData name="oriol Calblay" userId="e6c7bcb4eb356115" providerId="LiveId" clId="{CFA38ABF-9D49-4C1E-AFA7-0C224B99CDEF}" dt="2024-06-26T17:59:35.570" v="74" actId="478"/>
          <ac:spMkLst>
            <pc:docMk/>
            <pc:sldMk cId="3586026680" sldId="266"/>
            <ac:spMk id="11" creationId="{00000000-0000-0000-0000-000000000000}"/>
          </ac:spMkLst>
        </pc:spChg>
        <pc:spChg chg="del mod">
          <ac:chgData name="oriol Calblay" userId="e6c7bcb4eb356115" providerId="LiveId" clId="{CFA38ABF-9D49-4C1E-AFA7-0C224B99CDEF}" dt="2024-06-26T17:59:31.906" v="72" actId="478"/>
          <ac:spMkLst>
            <pc:docMk/>
            <pc:sldMk cId="3586026680" sldId="266"/>
            <ac:spMk id="13" creationId="{00000000-0000-0000-0000-000000000000}"/>
          </ac:spMkLst>
        </pc:spChg>
        <pc:spChg chg="del mod">
          <ac:chgData name="oriol Calblay" userId="e6c7bcb4eb356115" providerId="LiveId" clId="{CFA38ABF-9D49-4C1E-AFA7-0C224B99CDEF}" dt="2024-06-26T17:59:33.683" v="73" actId="478"/>
          <ac:spMkLst>
            <pc:docMk/>
            <pc:sldMk cId="3586026680" sldId="266"/>
            <ac:spMk id="14" creationId="{00000000-0000-0000-0000-000000000000}"/>
          </ac:spMkLst>
        </pc:spChg>
        <pc:spChg chg="add del mod">
          <ac:chgData name="oriol Calblay" userId="e6c7bcb4eb356115" providerId="LiveId" clId="{CFA38ABF-9D49-4C1E-AFA7-0C224B99CDEF}" dt="2024-06-26T18:02:23.376" v="104" actId="478"/>
          <ac:spMkLst>
            <pc:docMk/>
            <pc:sldMk cId="3586026680" sldId="266"/>
            <ac:spMk id="18" creationId="{251A87D8-454B-4DAB-408D-D0BFCCE4085C}"/>
          </ac:spMkLst>
        </pc:spChg>
        <pc:spChg chg="add del mod">
          <ac:chgData name="oriol Calblay" userId="e6c7bcb4eb356115" providerId="LiveId" clId="{CFA38ABF-9D49-4C1E-AFA7-0C224B99CDEF}" dt="2024-06-26T18:03:54.988" v="171"/>
          <ac:spMkLst>
            <pc:docMk/>
            <pc:sldMk cId="3586026680" sldId="266"/>
            <ac:spMk id="21" creationId="{419E64B2-C059-4CE6-0139-04FA919EF1E7}"/>
          </ac:spMkLst>
        </pc:spChg>
        <pc:picChg chg="mod">
          <ac:chgData name="oriol Calblay" userId="e6c7bcb4eb356115" providerId="LiveId" clId="{CFA38ABF-9D49-4C1E-AFA7-0C224B99CDEF}" dt="2024-06-26T18:02:29.484" v="105" actId="1076"/>
          <ac:picMkLst>
            <pc:docMk/>
            <pc:sldMk cId="3586026680" sldId="266"/>
            <ac:picMk id="2" creationId="{00000000-0000-0000-0000-000000000000}"/>
          </ac:picMkLst>
        </pc:picChg>
        <pc:picChg chg="del">
          <ac:chgData name="oriol Calblay" userId="e6c7bcb4eb356115" providerId="LiveId" clId="{CFA38ABF-9D49-4C1E-AFA7-0C224B99CDEF}" dt="2024-06-26T18:01:32.194" v="100" actId="478"/>
          <ac:picMkLst>
            <pc:docMk/>
            <pc:sldMk cId="3586026680" sldId="266"/>
            <ac:picMk id="4" creationId="{00000000-0000-0000-0000-000000000000}"/>
          </ac:picMkLst>
        </pc:picChg>
        <pc:picChg chg="del mod">
          <ac:chgData name="oriol Calblay" userId="e6c7bcb4eb356115" providerId="LiveId" clId="{CFA38ABF-9D49-4C1E-AFA7-0C224B99CDEF}" dt="2024-06-26T17:59:06.949" v="58" actId="478"/>
          <ac:picMkLst>
            <pc:docMk/>
            <pc:sldMk cId="3586026680" sldId="266"/>
            <ac:picMk id="6" creationId="{00000000-0000-0000-0000-000000000000}"/>
          </ac:picMkLst>
        </pc:picChg>
        <pc:picChg chg="del">
          <ac:chgData name="oriol Calblay" userId="e6c7bcb4eb356115" providerId="LiveId" clId="{CFA38ABF-9D49-4C1E-AFA7-0C224B99CDEF}" dt="2024-06-26T17:59:07.521" v="59" actId="478"/>
          <ac:picMkLst>
            <pc:docMk/>
            <pc:sldMk cId="3586026680" sldId="266"/>
            <ac:picMk id="9" creationId="{00000000-0000-0000-0000-000000000000}"/>
          </ac:picMkLst>
        </pc:picChg>
        <pc:picChg chg="del">
          <ac:chgData name="oriol Calblay" userId="e6c7bcb4eb356115" providerId="LiveId" clId="{CFA38ABF-9D49-4C1E-AFA7-0C224B99CDEF}" dt="2024-06-26T17:59:08.097" v="60" actId="478"/>
          <ac:picMkLst>
            <pc:docMk/>
            <pc:sldMk cId="3586026680" sldId="266"/>
            <ac:picMk id="12" creationId="{00000000-0000-0000-0000-000000000000}"/>
          </ac:picMkLst>
        </pc:picChg>
        <pc:picChg chg="del">
          <ac:chgData name="oriol Calblay" userId="e6c7bcb4eb356115" providerId="LiveId" clId="{CFA38ABF-9D49-4C1E-AFA7-0C224B99CDEF}" dt="2024-06-26T17:59:10.114" v="62" actId="478"/>
          <ac:picMkLst>
            <pc:docMk/>
            <pc:sldMk cId="3586026680" sldId="266"/>
            <ac:picMk id="15" creationId="{00000000-0000-0000-0000-000000000000}"/>
          </ac:picMkLst>
        </pc:picChg>
        <pc:picChg chg="add del mod">
          <ac:chgData name="oriol Calblay" userId="e6c7bcb4eb356115" providerId="LiveId" clId="{CFA38ABF-9D49-4C1E-AFA7-0C224B99CDEF}" dt="2024-06-26T18:02:23.376" v="104" actId="478"/>
          <ac:picMkLst>
            <pc:docMk/>
            <pc:sldMk cId="3586026680" sldId="266"/>
            <ac:picMk id="17" creationId="{06994CCC-D149-D2D0-E7B0-B232E6EBC8BE}"/>
          </ac:picMkLst>
        </pc:picChg>
        <pc:picChg chg="add mod">
          <ac:chgData name="oriol Calblay" userId="e6c7bcb4eb356115" providerId="LiveId" clId="{CFA38ABF-9D49-4C1E-AFA7-0C224B99CDEF}" dt="2024-06-26T18:03:31.044" v="167" actId="14100"/>
          <ac:picMkLst>
            <pc:docMk/>
            <pc:sldMk cId="3586026680" sldId="266"/>
            <ac:picMk id="20" creationId="{59A90783-A0FC-888E-4D68-C6E50C4588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8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45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incondelemprendedor.es/internacionalizacion-de-startups/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0195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301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9274" y="675084"/>
            <a:ext cx="7425452" cy="4234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337"/>
              </a:lnSpc>
              <a:buNone/>
            </a:pPr>
            <a:r>
              <a:rPr lang="en-US" sz="600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Propuesta de Internacionalización: Dulce Azúcar S.A.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59274" y="5278160"/>
            <a:ext cx="7425452" cy="1571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93"/>
              </a:lnSpc>
              <a:buNone/>
            </a:pPr>
            <a:r>
              <a:rPr lang="en-US" sz="1933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Dulce Azúcar S.A., fundada en 1985 en Barcelona, busca expandirse internacionalmente. Con 300 empleados y 50 millones de EUR en ingresos anuales, la empresa quiere diversificar mercados y aumentar ingresos.</a:t>
            </a:r>
            <a:endParaRPr lang="en-US" sz="1933" dirty="0"/>
          </a:p>
        </p:txBody>
      </p:sp>
      <p:sp>
        <p:nvSpPr>
          <p:cNvPr id="7" name="Shape 3"/>
          <p:cNvSpPr/>
          <p:nvPr/>
        </p:nvSpPr>
        <p:spPr>
          <a:xfrm>
            <a:off x="859274" y="7143869"/>
            <a:ext cx="392787" cy="392787"/>
          </a:xfrm>
          <a:prstGeom prst="roundRect">
            <a:avLst>
              <a:gd name="adj" fmla="val 23277465"/>
            </a:avLst>
          </a:prstGeom>
          <a:solidFill>
            <a:srgbClr val="E0E48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84885" y="7291507"/>
            <a:ext cx="141565" cy="975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68" dirty="0">
                <a:solidFill>
                  <a:srgbClr val="3C383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</a:t>
            </a:r>
            <a:endParaRPr lang="en-US" sz="768" dirty="0"/>
          </a:p>
        </p:txBody>
      </p:sp>
      <p:sp>
        <p:nvSpPr>
          <p:cNvPr id="9" name="Text 5"/>
          <p:cNvSpPr/>
          <p:nvPr/>
        </p:nvSpPr>
        <p:spPr>
          <a:xfrm>
            <a:off x="1374815" y="7125414"/>
            <a:ext cx="1842849" cy="42969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383"/>
              </a:lnSpc>
              <a:buNone/>
            </a:pPr>
            <a:r>
              <a:rPr lang="en-US" sz="2417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Oriol Puig</a:t>
            </a:r>
            <a:endParaRPr lang="en-US" sz="241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4162901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Perfil de la Empresa</a:t>
            </a:r>
            <a:endParaRPr lang="en-US" sz="4860" dirty="0"/>
          </a:p>
        </p:txBody>
      </p:sp>
      <p:sp>
        <p:nvSpPr>
          <p:cNvPr id="6" name="Shape 2"/>
          <p:cNvSpPr/>
          <p:nvPr/>
        </p:nvSpPr>
        <p:spPr>
          <a:xfrm>
            <a:off x="864037" y="5304711"/>
            <a:ext cx="4136231" cy="1848088"/>
          </a:xfrm>
          <a:prstGeom prst="roundRect">
            <a:avLst>
              <a:gd name="adj" fmla="val 6012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26093" y="5566767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Productos</a:t>
            </a:r>
            <a:endParaRPr lang="en-US" sz="2430" dirty="0"/>
          </a:p>
        </p:txBody>
      </p:sp>
      <p:sp>
        <p:nvSpPr>
          <p:cNvPr id="8" name="Text 4"/>
          <p:cNvSpPr/>
          <p:nvPr/>
        </p:nvSpPr>
        <p:spPr>
          <a:xfrm>
            <a:off x="1126093" y="6100643"/>
            <a:ext cx="361211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Azúcar refinada, moreno, en polvo, jarabes y melazas.</a:t>
            </a:r>
            <a:endParaRPr lang="en-US" sz="1944" dirty="0"/>
          </a:p>
        </p:txBody>
      </p:sp>
      <p:sp>
        <p:nvSpPr>
          <p:cNvPr id="9" name="Shape 5"/>
          <p:cNvSpPr/>
          <p:nvPr/>
        </p:nvSpPr>
        <p:spPr>
          <a:xfrm>
            <a:off x="5247084" y="5304711"/>
            <a:ext cx="4136231" cy="1848088"/>
          </a:xfrm>
          <a:prstGeom prst="roundRect">
            <a:avLst>
              <a:gd name="adj" fmla="val 6012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09141" y="5566767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Capacidad</a:t>
            </a:r>
            <a:endParaRPr lang="en-US" sz="2430" dirty="0"/>
          </a:p>
        </p:txBody>
      </p:sp>
      <p:sp>
        <p:nvSpPr>
          <p:cNvPr id="11" name="Text 7"/>
          <p:cNvSpPr/>
          <p:nvPr/>
        </p:nvSpPr>
        <p:spPr>
          <a:xfrm>
            <a:off x="5509141" y="6100643"/>
            <a:ext cx="361211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200.000 toneladas de producción anual.</a:t>
            </a:r>
            <a:endParaRPr lang="en-US" sz="1944" dirty="0"/>
          </a:p>
        </p:txBody>
      </p:sp>
      <p:sp>
        <p:nvSpPr>
          <p:cNvPr id="12" name="Shape 8"/>
          <p:cNvSpPr/>
          <p:nvPr/>
        </p:nvSpPr>
        <p:spPr>
          <a:xfrm>
            <a:off x="9630132" y="5304711"/>
            <a:ext cx="4136231" cy="1848088"/>
          </a:xfrm>
          <a:prstGeom prst="roundRect">
            <a:avLst>
              <a:gd name="adj" fmla="val 6012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892189" y="5566767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Clientes</a:t>
            </a:r>
            <a:endParaRPr lang="en-US" sz="2430" dirty="0"/>
          </a:p>
        </p:txBody>
      </p:sp>
      <p:sp>
        <p:nvSpPr>
          <p:cNvPr id="14" name="Text 10"/>
          <p:cNvSpPr/>
          <p:nvPr/>
        </p:nvSpPr>
        <p:spPr>
          <a:xfrm>
            <a:off x="9892189" y="6100643"/>
            <a:ext cx="361211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Principalmente en España, algunos en Portugal.</a:t>
            </a:r>
            <a:endParaRPr lang="en-US" sz="19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598063"/>
            <a:ext cx="9900285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Modalidad de Internacionalización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64037" y="398668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Exportación Directa</a:t>
            </a:r>
            <a:endParaRPr lang="en-US" sz="2430" dirty="0"/>
          </a:p>
        </p:txBody>
      </p:sp>
      <p:sp>
        <p:nvSpPr>
          <p:cNvPr id="6" name="Text 3"/>
          <p:cNvSpPr/>
          <p:nvPr/>
        </p:nvSpPr>
        <p:spPr>
          <a:xfrm>
            <a:off x="864037" y="4619268"/>
            <a:ext cx="615005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Crear red logística y buscar distribuidores locales.</a:t>
            </a:r>
            <a:endParaRPr lang="en-US" sz="1944" dirty="0"/>
          </a:p>
        </p:txBody>
      </p:sp>
      <p:sp>
        <p:nvSpPr>
          <p:cNvPr id="7" name="Text 4"/>
          <p:cNvSpPr/>
          <p:nvPr/>
        </p:nvSpPr>
        <p:spPr>
          <a:xfrm>
            <a:off x="7623929" y="398668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Alianzas Estratégicas</a:t>
            </a:r>
            <a:endParaRPr lang="en-US" sz="2430" dirty="0"/>
          </a:p>
        </p:txBody>
      </p:sp>
      <p:sp>
        <p:nvSpPr>
          <p:cNvPr id="8" name="Text 5"/>
          <p:cNvSpPr/>
          <p:nvPr/>
        </p:nvSpPr>
        <p:spPr>
          <a:xfrm>
            <a:off x="7623929" y="4619268"/>
            <a:ext cx="615005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Colaborar con productores locales y formar alianzas con distribuidores.</a:t>
            </a:r>
            <a:endParaRPr lang="en-US" sz="19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4088606"/>
            <a:ext cx="7027783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Mercado Objetivo: Brasil</a:t>
            </a:r>
            <a:endParaRPr lang="en-US" sz="4860" dirty="0"/>
          </a:p>
        </p:txBody>
      </p:sp>
      <p:sp>
        <p:nvSpPr>
          <p:cNvPr id="6" name="Shape 2"/>
          <p:cNvSpPr/>
          <p:nvPr/>
        </p:nvSpPr>
        <p:spPr>
          <a:xfrm>
            <a:off x="864037" y="5508069"/>
            <a:ext cx="555427" cy="555427"/>
          </a:xfrm>
          <a:prstGeom prst="roundRect">
            <a:avLst>
              <a:gd name="adj" fmla="val 20003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70015" y="5600581"/>
            <a:ext cx="143351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916" dirty="0"/>
          </a:p>
        </p:txBody>
      </p:sp>
      <p:sp>
        <p:nvSpPr>
          <p:cNvPr id="8" name="Text 4"/>
          <p:cNvSpPr/>
          <p:nvPr/>
        </p:nvSpPr>
        <p:spPr>
          <a:xfrm>
            <a:off x="1666280" y="550806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Enfoque HORECA</a:t>
            </a:r>
            <a:endParaRPr lang="en-US" sz="2430" dirty="0"/>
          </a:p>
        </p:txBody>
      </p:sp>
      <p:sp>
        <p:nvSpPr>
          <p:cNvPr id="9" name="Text 5"/>
          <p:cNvSpPr/>
          <p:nvPr/>
        </p:nvSpPr>
        <p:spPr>
          <a:xfrm>
            <a:off x="1666280" y="6041946"/>
            <a:ext cx="333398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Hoteles, Restaurantes y Catering en grandes ciudades brasileñas.</a:t>
            </a:r>
            <a:endParaRPr lang="en-US" sz="1944" dirty="0"/>
          </a:p>
        </p:txBody>
      </p:sp>
      <p:sp>
        <p:nvSpPr>
          <p:cNvPr id="10" name="Shape 6"/>
          <p:cNvSpPr/>
          <p:nvPr/>
        </p:nvSpPr>
        <p:spPr>
          <a:xfrm>
            <a:off x="5247084" y="5508069"/>
            <a:ext cx="555427" cy="555427"/>
          </a:xfrm>
          <a:prstGeom prst="roundRect">
            <a:avLst>
              <a:gd name="adj" fmla="val 20003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21630" y="5600581"/>
            <a:ext cx="206335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916" dirty="0"/>
          </a:p>
        </p:txBody>
      </p:sp>
      <p:sp>
        <p:nvSpPr>
          <p:cNvPr id="12" name="Text 8"/>
          <p:cNvSpPr/>
          <p:nvPr/>
        </p:nvSpPr>
        <p:spPr>
          <a:xfrm>
            <a:off x="6049328" y="550806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Ventajas</a:t>
            </a:r>
            <a:endParaRPr lang="en-US" sz="2430" dirty="0"/>
          </a:p>
        </p:txBody>
      </p:sp>
      <p:sp>
        <p:nvSpPr>
          <p:cNvPr id="13" name="Text 9"/>
          <p:cNvSpPr/>
          <p:nvPr/>
        </p:nvSpPr>
        <p:spPr>
          <a:xfrm>
            <a:off x="6049328" y="6041946"/>
            <a:ext cx="333398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Convenio para evitar doble tributación desde 2003.</a:t>
            </a:r>
            <a:endParaRPr lang="en-US" sz="1944" dirty="0"/>
          </a:p>
        </p:txBody>
      </p:sp>
      <p:sp>
        <p:nvSpPr>
          <p:cNvPr id="14" name="Shape 10"/>
          <p:cNvSpPr/>
          <p:nvPr/>
        </p:nvSpPr>
        <p:spPr>
          <a:xfrm>
            <a:off x="9630132" y="5508069"/>
            <a:ext cx="555427" cy="555427"/>
          </a:xfrm>
          <a:prstGeom prst="roundRect">
            <a:avLst>
              <a:gd name="adj" fmla="val 20003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800630" y="5600581"/>
            <a:ext cx="214432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916" dirty="0"/>
          </a:p>
        </p:txBody>
      </p:sp>
      <p:sp>
        <p:nvSpPr>
          <p:cNvPr id="16" name="Text 12"/>
          <p:cNvSpPr/>
          <p:nvPr/>
        </p:nvSpPr>
        <p:spPr>
          <a:xfrm>
            <a:off x="10432375" y="550806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Oportunidad</a:t>
            </a:r>
            <a:endParaRPr lang="en-US" sz="2430" dirty="0"/>
          </a:p>
        </p:txBody>
      </p:sp>
      <p:sp>
        <p:nvSpPr>
          <p:cNvPr id="17" name="Text 13"/>
          <p:cNvSpPr/>
          <p:nvPr/>
        </p:nvSpPr>
        <p:spPr>
          <a:xfrm>
            <a:off x="10432375" y="6041946"/>
            <a:ext cx="333398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Crecimiento del sector turístico y auge de la gastronomía brasileña.</a:t>
            </a:r>
            <a:endParaRPr lang="en-US" sz="19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053828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Análisis DAFO</a:t>
            </a:r>
            <a:endParaRPr lang="en-US" sz="4860" dirty="0"/>
          </a:p>
        </p:txBody>
      </p:sp>
      <p:sp>
        <p:nvSpPr>
          <p:cNvPr id="5" name="Shape 2"/>
          <p:cNvSpPr/>
          <p:nvPr/>
        </p:nvSpPr>
        <p:spPr>
          <a:xfrm>
            <a:off x="864037" y="3319105"/>
            <a:ext cx="12902327" cy="2856547"/>
          </a:xfrm>
          <a:prstGeom prst="roundRect">
            <a:avLst>
              <a:gd name="adj" fmla="val 3889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9277" y="3334345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26093" y="3490079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Fortalezas</a:t>
            </a:r>
            <a:endParaRPr lang="en-US" sz="1944" dirty="0"/>
          </a:p>
        </p:txBody>
      </p:sp>
      <p:sp>
        <p:nvSpPr>
          <p:cNvPr id="8" name="Text 5"/>
          <p:cNvSpPr/>
          <p:nvPr/>
        </p:nvSpPr>
        <p:spPr>
          <a:xfrm>
            <a:off x="7565827" y="3490079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Debilidades</a:t>
            </a:r>
            <a:endParaRPr lang="en-US" sz="1944" dirty="0"/>
          </a:p>
        </p:txBody>
      </p:sp>
      <p:sp>
        <p:nvSpPr>
          <p:cNvPr id="9" name="Shape 6"/>
          <p:cNvSpPr/>
          <p:nvPr/>
        </p:nvSpPr>
        <p:spPr>
          <a:xfrm>
            <a:off x="879277" y="4040862"/>
            <a:ext cx="128718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26093" y="4196596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Calidad del producto</a:t>
            </a:r>
            <a:endParaRPr lang="en-US" sz="1944" dirty="0"/>
          </a:p>
        </p:txBody>
      </p:sp>
      <p:sp>
        <p:nvSpPr>
          <p:cNvPr id="11" name="Text 8"/>
          <p:cNvSpPr/>
          <p:nvPr/>
        </p:nvSpPr>
        <p:spPr>
          <a:xfrm>
            <a:off x="7565827" y="4196596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Poca experiencia internacional</a:t>
            </a:r>
            <a:endParaRPr lang="en-US" sz="1944" dirty="0"/>
          </a:p>
        </p:txBody>
      </p:sp>
      <p:sp>
        <p:nvSpPr>
          <p:cNvPr id="12" name="Shape 9"/>
          <p:cNvSpPr/>
          <p:nvPr/>
        </p:nvSpPr>
        <p:spPr>
          <a:xfrm>
            <a:off x="879277" y="4747379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26093" y="4903113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Oportunidades</a:t>
            </a:r>
            <a:endParaRPr lang="en-US" sz="1944" dirty="0"/>
          </a:p>
        </p:txBody>
      </p:sp>
      <p:sp>
        <p:nvSpPr>
          <p:cNvPr id="14" name="Text 11"/>
          <p:cNvSpPr/>
          <p:nvPr/>
        </p:nvSpPr>
        <p:spPr>
          <a:xfrm>
            <a:off x="7565827" y="4903113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Amenazas</a:t>
            </a:r>
            <a:endParaRPr lang="en-US" sz="1944" dirty="0"/>
          </a:p>
        </p:txBody>
      </p:sp>
      <p:sp>
        <p:nvSpPr>
          <p:cNvPr id="15" name="Shape 12"/>
          <p:cNvSpPr/>
          <p:nvPr/>
        </p:nvSpPr>
        <p:spPr>
          <a:xfrm>
            <a:off x="879277" y="5453896"/>
            <a:ext cx="128718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26093" y="5609630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Demanda creciente</a:t>
            </a:r>
            <a:endParaRPr lang="en-US" sz="1944" dirty="0"/>
          </a:p>
        </p:txBody>
      </p:sp>
      <p:sp>
        <p:nvSpPr>
          <p:cNvPr id="17" name="Text 14"/>
          <p:cNvSpPr/>
          <p:nvPr/>
        </p:nvSpPr>
        <p:spPr>
          <a:xfrm>
            <a:off x="7565827" y="5609630"/>
            <a:ext cx="593848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Competencia local fuerte</a:t>
            </a:r>
            <a:endParaRPr lang="en-US" sz="19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190631"/>
            <a:ext cx="8165902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Estrategia de Comunicación</a:t>
            </a:r>
            <a:endParaRPr lang="en-US" sz="486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7" y="3455908"/>
            <a:ext cx="617220" cy="6172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037" y="4319945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Chefs Famosos</a:t>
            </a:r>
            <a:endParaRPr lang="en-US" sz="2430" dirty="0"/>
          </a:p>
        </p:txBody>
      </p:sp>
      <p:sp>
        <p:nvSpPr>
          <p:cNvPr id="7" name="Text 3"/>
          <p:cNvSpPr/>
          <p:nvPr/>
        </p:nvSpPr>
        <p:spPr>
          <a:xfrm>
            <a:off x="864037" y="4853821"/>
            <a:ext cx="4053840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Asociaciones con chefs reconocidos para promover el uso de Dulce Azúcar.</a:t>
            </a:r>
            <a:endParaRPr lang="en-US" sz="1944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8161" y="3455908"/>
            <a:ext cx="617220" cy="6172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88161" y="4319945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Sostenibilidad</a:t>
            </a:r>
            <a:endParaRPr lang="en-US" sz="2430" dirty="0"/>
          </a:p>
        </p:txBody>
      </p:sp>
      <p:sp>
        <p:nvSpPr>
          <p:cNvPr id="10" name="Text 5"/>
          <p:cNvSpPr/>
          <p:nvPr/>
        </p:nvSpPr>
        <p:spPr>
          <a:xfrm>
            <a:off x="5288161" y="4853821"/>
            <a:ext cx="40539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Invertir en iniciativas que resuenen con valores brasileños.</a:t>
            </a:r>
            <a:endParaRPr lang="en-US" sz="194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2404" y="3455908"/>
            <a:ext cx="617220" cy="6172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12404" y="4319945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Apoyo Local</a:t>
            </a:r>
            <a:endParaRPr lang="en-US" sz="2430" dirty="0"/>
          </a:p>
        </p:txBody>
      </p:sp>
      <p:sp>
        <p:nvSpPr>
          <p:cNvPr id="13" name="Text 7"/>
          <p:cNvSpPr/>
          <p:nvPr/>
        </p:nvSpPr>
        <p:spPr>
          <a:xfrm>
            <a:off x="9712404" y="4853821"/>
            <a:ext cx="40539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Resaltar el apoyo a comunidades locales en Brasil.</a:t>
            </a:r>
            <a:endParaRPr lang="en-US" sz="19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1862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9838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5462" y="3640217"/>
            <a:ext cx="6112431" cy="7459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74"/>
              </a:lnSpc>
              <a:buNone/>
            </a:pPr>
            <a:r>
              <a:rPr lang="en-US" sz="4699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Organización y Apoyo</a:t>
            </a:r>
            <a:endParaRPr lang="en-US" sz="4699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62" y="4744164"/>
            <a:ext cx="4319826" cy="95476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74063" y="6056948"/>
            <a:ext cx="2983825" cy="37290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37"/>
              </a:lnSpc>
              <a:buNone/>
            </a:pPr>
            <a:r>
              <a:rPr lang="en-US" sz="235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Sede Central</a:t>
            </a:r>
            <a:endParaRPr lang="en-US" sz="2350" dirty="0"/>
          </a:p>
        </p:txBody>
      </p:sp>
      <p:sp>
        <p:nvSpPr>
          <p:cNvPr id="8" name="Text 3"/>
          <p:cNvSpPr/>
          <p:nvPr/>
        </p:nvSpPr>
        <p:spPr>
          <a:xfrm>
            <a:off x="1074063" y="6572964"/>
            <a:ext cx="3842623" cy="7639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07"/>
              </a:lnSpc>
              <a:buNone/>
            </a:pPr>
            <a:r>
              <a:rPr lang="en-US" sz="188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Equipo coordinador de estrategia global en Barcelona.</a:t>
            </a:r>
            <a:endParaRPr lang="en-US" sz="188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5287" y="4744164"/>
            <a:ext cx="4319826" cy="9547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93888" y="6056948"/>
            <a:ext cx="2983825" cy="37290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37"/>
              </a:lnSpc>
              <a:buNone/>
            </a:pPr>
            <a:r>
              <a:rPr lang="en-US" sz="235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Delegación Brasil</a:t>
            </a:r>
            <a:endParaRPr lang="en-US" sz="2350" dirty="0"/>
          </a:p>
        </p:txBody>
      </p:sp>
      <p:sp>
        <p:nvSpPr>
          <p:cNvPr id="11" name="Text 5"/>
          <p:cNvSpPr/>
          <p:nvPr/>
        </p:nvSpPr>
        <p:spPr>
          <a:xfrm>
            <a:off x="5393888" y="6572964"/>
            <a:ext cx="3842623" cy="7639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07"/>
              </a:lnSpc>
              <a:buNone/>
            </a:pPr>
            <a:r>
              <a:rPr lang="en-US" sz="188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Equipo de ventas y expertos en logística en São Paulo.</a:t>
            </a:r>
            <a:endParaRPr lang="en-US" sz="188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113" y="4744164"/>
            <a:ext cx="4319826" cy="95476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13714" y="6056948"/>
            <a:ext cx="2983825" cy="37290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37"/>
              </a:lnSpc>
              <a:buNone/>
            </a:pPr>
            <a:r>
              <a:rPr lang="en-US" sz="235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Apoyo Institucional</a:t>
            </a:r>
            <a:endParaRPr lang="en-US" sz="2350" dirty="0"/>
          </a:p>
        </p:txBody>
      </p:sp>
      <p:sp>
        <p:nvSpPr>
          <p:cNvPr id="14" name="Text 7"/>
          <p:cNvSpPr/>
          <p:nvPr/>
        </p:nvSpPr>
        <p:spPr>
          <a:xfrm>
            <a:off x="9713714" y="6572964"/>
            <a:ext cx="3842623" cy="7639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07"/>
              </a:lnSpc>
              <a:buNone/>
            </a:pPr>
            <a:r>
              <a:rPr lang="en-US" sz="188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Colaboración con ICEX y cámaras de comercio locales.</a:t>
            </a:r>
            <a:endParaRPr lang="en-US" sz="1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400538"/>
            <a:ext cx="6235898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Aspectos Financieros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64037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Medios de Pago</a:t>
            </a:r>
            <a:endParaRPr lang="en-US" sz="2430" dirty="0"/>
          </a:p>
        </p:txBody>
      </p:sp>
      <p:sp>
        <p:nvSpPr>
          <p:cNvPr id="6" name="Text 3"/>
          <p:cNvSpPr/>
          <p:nvPr/>
        </p:nvSpPr>
        <p:spPr>
          <a:xfrm>
            <a:off x="864037" y="4421743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Carta de Crédito como primera opción, Cobranza Documentaria como alternativa.</a:t>
            </a:r>
            <a:endParaRPr lang="en-US" sz="1944" dirty="0"/>
          </a:p>
        </p:txBody>
      </p:sp>
      <p:sp>
        <p:nvSpPr>
          <p:cNvPr id="7" name="Text 4"/>
          <p:cNvSpPr/>
          <p:nvPr/>
        </p:nvSpPr>
        <p:spPr>
          <a:xfrm>
            <a:off x="5372695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Incoterm</a:t>
            </a:r>
            <a:endParaRPr lang="en-US" sz="2430" dirty="0"/>
          </a:p>
        </p:txBody>
      </p:sp>
      <p:sp>
        <p:nvSpPr>
          <p:cNvPr id="8" name="Text 5"/>
          <p:cNvSpPr/>
          <p:nvPr/>
        </p:nvSpPr>
        <p:spPr>
          <a:xfrm>
            <a:off x="5372695" y="4421743"/>
            <a:ext cx="3898821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CIF (Cost, Insurance, and Freight) para facilitar la importación.</a:t>
            </a:r>
            <a:endParaRPr lang="en-US" sz="1944" dirty="0"/>
          </a:p>
        </p:txBody>
      </p:sp>
      <p:sp>
        <p:nvSpPr>
          <p:cNvPr id="9" name="Text 6"/>
          <p:cNvSpPr/>
          <p:nvPr/>
        </p:nvSpPr>
        <p:spPr>
          <a:xfrm>
            <a:off x="9881354" y="378916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Financiación</a:t>
            </a:r>
            <a:endParaRPr lang="en-US" sz="2430" dirty="0"/>
          </a:p>
        </p:txBody>
      </p:sp>
      <p:sp>
        <p:nvSpPr>
          <p:cNvPr id="10" name="Text 7"/>
          <p:cNvSpPr/>
          <p:nvPr/>
        </p:nvSpPr>
        <p:spPr>
          <a:xfrm>
            <a:off x="9881354" y="4421743"/>
            <a:ext cx="3898821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Líneas de crédito para exportación y factoring.</a:t>
            </a:r>
            <a:endParaRPr lang="en-US" sz="19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1047155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Próximos Pasos</a:t>
            </a:r>
            <a:endParaRPr lang="en-US" sz="4860" dirty="0"/>
          </a:p>
        </p:txBody>
      </p:sp>
      <p:sp>
        <p:nvSpPr>
          <p:cNvPr id="5" name="Shape 2"/>
          <p:cNvSpPr/>
          <p:nvPr/>
        </p:nvSpPr>
        <p:spPr>
          <a:xfrm>
            <a:off x="864037" y="4747379"/>
            <a:ext cx="12902327" cy="49292"/>
          </a:xfrm>
          <a:prstGeom prst="roundRect">
            <a:avLst>
              <a:gd name="adj" fmla="val 225391"/>
            </a:avLst>
          </a:prstGeom>
          <a:solidFill>
            <a:srgbClr val="C9CACE"/>
          </a:solidFill>
          <a:ln/>
        </p:spPr>
      </p:sp>
      <p:sp>
        <p:nvSpPr>
          <p:cNvPr id="6" name="Shape 3"/>
          <p:cNvSpPr/>
          <p:nvPr/>
        </p:nvSpPr>
        <p:spPr>
          <a:xfrm>
            <a:off x="3345775" y="3883402"/>
            <a:ext cx="49292" cy="864037"/>
          </a:xfrm>
          <a:prstGeom prst="roundRect">
            <a:avLst>
              <a:gd name="adj" fmla="val 225391"/>
            </a:avLst>
          </a:prstGeom>
          <a:solidFill>
            <a:srgbClr val="C9CACE"/>
          </a:solidFill>
          <a:ln/>
        </p:spPr>
      </p:sp>
      <p:sp>
        <p:nvSpPr>
          <p:cNvPr id="7" name="Shape 4"/>
          <p:cNvSpPr/>
          <p:nvPr/>
        </p:nvSpPr>
        <p:spPr>
          <a:xfrm>
            <a:off x="3092768" y="4469666"/>
            <a:ext cx="555427" cy="555427"/>
          </a:xfrm>
          <a:prstGeom prst="roundRect">
            <a:avLst>
              <a:gd name="adj" fmla="val 20003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8746" y="4562177"/>
            <a:ext cx="143351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916" dirty="0"/>
          </a:p>
        </p:txBody>
      </p:sp>
      <p:sp>
        <p:nvSpPr>
          <p:cNvPr id="9" name="Text 6"/>
          <p:cNvSpPr/>
          <p:nvPr/>
        </p:nvSpPr>
        <p:spPr>
          <a:xfrm>
            <a:off x="1827371" y="2312432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Investigación</a:t>
            </a:r>
            <a:endParaRPr lang="en-US" sz="2430" dirty="0"/>
          </a:p>
        </p:txBody>
      </p:sp>
      <p:sp>
        <p:nvSpPr>
          <p:cNvPr id="10" name="Text 7"/>
          <p:cNvSpPr/>
          <p:nvPr/>
        </p:nvSpPr>
        <p:spPr>
          <a:xfrm>
            <a:off x="1110853" y="2846308"/>
            <a:ext cx="4519136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Profundizar en el mercado HORECA brasileño.</a:t>
            </a:r>
            <a:endParaRPr lang="en-US" sz="1944" dirty="0"/>
          </a:p>
        </p:txBody>
      </p:sp>
      <p:sp>
        <p:nvSpPr>
          <p:cNvPr id="11" name="Shape 8"/>
          <p:cNvSpPr/>
          <p:nvPr/>
        </p:nvSpPr>
        <p:spPr>
          <a:xfrm>
            <a:off x="5975509" y="4747320"/>
            <a:ext cx="49292" cy="864037"/>
          </a:xfrm>
          <a:prstGeom prst="roundRect">
            <a:avLst>
              <a:gd name="adj" fmla="val 225391"/>
            </a:avLst>
          </a:prstGeom>
          <a:solidFill>
            <a:srgbClr val="C9CACE"/>
          </a:solidFill>
          <a:ln/>
        </p:spPr>
      </p:sp>
      <p:sp>
        <p:nvSpPr>
          <p:cNvPr id="12" name="Shape 9"/>
          <p:cNvSpPr/>
          <p:nvPr/>
        </p:nvSpPr>
        <p:spPr>
          <a:xfrm>
            <a:off x="5722501" y="4469666"/>
            <a:ext cx="555427" cy="555427"/>
          </a:xfrm>
          <a:prstGeom prst="roundRect">
            <a:avLst>
              <a:gd name="adj" fmla="val 20003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047" y="4562177"/>
            <a:ext cx="206335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916" dirty="0"/>
          </a:p>
        </p:txBody>
      </p:sp>
      <p:sp>
        <p:nvSpPr>
          <p:cNvPr id="14" name="Text 11"/>
          <p:cNvSpPr/>
          <p:nvPr/>
        </p:nvSpPr>
        <p:spPr>
          <a:xfrm>
            <a:off x="4457105" y="5858351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Contactos</a:t>
            </a:r>
            <a:endParaRPr lang="en-US" sz="2430" dirty="0"/>
          </a:p>
        </p:txBody>
      </p:sp>
      <p:sp>
        <p:nvSpPr>
          <p:cNvPr id="15" name="Text 12"/>
          <p:cNvSpPr/>
          <p:nvPr/>
        </p:nvSpPr>
        <p:spPr>
          <a:xfrm>
            <a:off x="3740587" y="6392228"/>
            <a:ext cx="4519255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Establecer relaciones con distribuidores y clientes potenciales.</a:t>
            </a:r>
            <a:endParaRPr lang="en-US" sz="1944" dirty="0"/>
          </a:p>
        </p:txBody>
      </p:sp>
      <p:sp>
        <p:nvSpPr>
          <p:cNvPr id="16" name="Shape 13"/>
          <p:cNvSpPr/>
          <p:nvPr/>
        </p:nvSpPr>
        <p:spPr>
          <a:xfrm>
            <a:off x="8605361" y="3883402"/>
            <a:ext cx="49292" cy="864037"/>
          </a:xfrm>
          <a:prstGeom prst="roundRect">
            <a:avLst>
              <a:gd name="adj" fmla="val 225391"/>
            </a:avLst>
          </a:prstGeom>
          <a:solidFill>
            <a:srgbClr val="C9CACE"/>
          </a:solidFill>
          <a:ln/>
        </p:spPr>
      </p:sp>
      <p:sp>
        <p:nvSpPr>
          <p:cNvPr id="17" name="Shape 14"/>
          <p:cNvSpPr/>
          <p:nvPr/>
        </p:nvSpPr>
        <p:spPr>
          <a:xfrm>
            <a:off x="8352353" y="4469666"/>
            <a:ext cx="555427" cy="555427"/>
          </a:xfrm>
          <a:prstGeom prst="roundRect">
            <a:avLst>
              <a:gd name="adj" fmla="val 20003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22851" y="4562177"/>
            <a:ext cx="214432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916" dirty="0"/>
          </a:p>
        </p:txBody>
      </p:sp>
      <p:sp>
        <p:nvSpPr>
          <p:cNvPr id="19" name="Text 16"/>
          <p:cNvSpPr/>
          <p:nvPr/>
        </p:nvSpPr>
        <p:spPr>
          <a:xfrm>
            <a:off x="7086957" y="2312432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Logística</a:t>
            </a:r>
            <a:endParaRPr lang="en-US" sz="2430" dirty="0"/>
          </a:p>
        </p:txBody>
      </p:sp>
      <p:sp>
        <p:nvSpPr>
          <p:cNvPr id="20" name="Text 17"/>
          <p:cNvSpPr/>
          <p:nvPr/>
        </p:nvSpPr>
        <p:spPr>
          <a:xfrm>
            <a:off x="6370439" y="2846308"/>
            <a:ext cx="4519255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Desarrollar red de distribución y almacenamiento en Brasil.</a:t>
            </a:r>
            <a:endParaRPr lang="en-US" sz="1944" dirty="0"/>
          </a:p>
        </p:txBody>
      </p:sp>
      <p:sp>
        <p:nvSpPr>
          <p:cNvPr id="21" name="Shape 18"/>
          <p:cNvSpPr/>
          <p:nvPr/>
        </p:nvSpPr>
        <p:spPr>
          <a:xfrm>
            <a:off x="11235214" y="4747320"/>
            <a:ext cx="49292" cy="864037"/>
          </a:xfrm>
          <a:prstGeom prst="roundRect">
            <a:avLst>
              <a:gd name="adj" fmla="val 225391"/>
            </a:avLst>
          </a:prstGeom>
          <a:solidFill>
            <a:srgbClr val="C9CACE"/>
          </a:solidFill>
          <a:ln/>
        </p:spPr>
      </p:sp>
      <p:sp>
        <p:nvSpPr>
          <p:cNvPr id="22" name="Shape 19"/>
          <p:cNvSpPr/>
          <p:nvPr/>
        </p:nvSpPr>
        <p:spPr>
          <a:xfrm>
            <a:off x="10982206" y="4469666"/>
            <a:ext cx="555427" cy="555427"/>
          </a:xfrm>
          <a:prstGeom prst="roundRect">
            <a:avLst>
              <a:gd name="adj" fmla="val 20003"/>
            </a:avLst>
          </a:prstGeom>
          <a:solidFill>
            <a:srgbClr val="E3E4E8"/>
          </a:solidFill>
          <a:ln w="15240">
            <a:solidFill>
              <a:srgbClr val="C9CAC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46036" y="4562177"/>
            <a:ext cx="227767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2916" dirty="0"/>
          </a:p>
        </p:txBody>
      </p:sp>
      <p:sp>
        <p:nvSpPr>
          <p:cNvPr id="24" name="Text 21"/>
          <p:cNvSpPr/>
          <p:nvPr/>
        </p:nvSpPr>
        <p:spPr>
          <a:xfrm>
            <a:off x="9716810" y="5858351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Lanzamiento</a:t>
            </a:r>
            <a:endParaRPr lang="en-US" sz="2430" dirty="0"/>
          </a:p>
        </p:txBody>
      </p:sp>
      <p:sp>
        <p:nvSpPr>
          <p:cNvPr id="25" name="Text 22"/>
          <p:cNvSpPr/>
          <p:nvPr/>
        </p:nvSpPr>
        <p:spPr>
          <a:xfrm>
            <a:off x="9000292" y="6392228"/>
            <a:ext cx="4519255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Iniciar operaciones de exportación y marketing local.</a:t>
            </a:r>
            <a:endParaRPr lang="en-US" sz="19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5462" y="3187887"/>
            <a:ext cx="6112431" cy="7459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74"/>
              </a:lnSpc>
              <a:buNone/>
            </a:pPr>
            <a:r>
              <a:rPr lang="en-US" sz="4699" b="1" dirty="0" err="1">
                <a:solidFill>
                  <a:srgbClr val="5B5F72"/>
                </a:solidFill>
                <a:latin typeface="Instrument Sans" pitchFamily="34" charset="0"/>
                <a:ea typeface="Instrument Sans" pitchFamily="34" charset="-122"/>
              </a:rPr>
              <a:t>Conclusión</a:t>
            </a:r>
            <a:endParaRPr lang="en-US" sz="4699" dirty="0"/>
          </a:p>
        </p:txBody>
      </p:sp>
      <p:sp>
        <p:nvSpPr>
          <p:cNvPr id="8" name="Text 3"/>
          <p:cNvSpPr/>
          <p:nvPr/>
        </p:nvSpPr>
        <p:spPr>
          <a:xfrm>
            <a:off x="1074063" y="4295787"/>
            <a:ext cx="9826818" cy="2754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007"/>
              </a:lnSpc>
            </a:pPr>
            <a:r>
              <a:rPr lang="es-E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internacionalización de Dulce Azúcar S.A. a Brasil ofrece :</a:t>
            </a:r>
          </a:p>
          <a:p>
            <a:pPr>
              <a:lnSpc>
                <a:spcPts val="3007"/>
              </a:lnSpc>
            </a:pPr>
            <a:endParaRPr lang="es-E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lnSpc>
                <a:spcPts val="3007"/>
              </a:lnSpc>
              <a:buFont typeface="Arial" panose="020B0604020202020204" pitchFamily="34" charset="0"/>
              <a:buChar char="•"/>
            </a:pP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Excelente oportunidad de crecimiento </a:t>
            </a:r>
          </a:p>
          <a:p>
            <a:pPr marL="1200150" lvl="2" indent="-285750">
              <a:lnSpc>
                <a:spcPts val="3007"/>
              </a:lnSpc>
              <a:buFont typeface="Arial" panose="020B0604020202020204" pitchFamily="34" charset="0"/>
              <a:buChar char="•"/>
            </a:pPr>
            <a:r>
              <a:rPr lang="es-ES" sz="2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ortalecer nuestras relaciones comerciales. </a:t>
            </a:r>
          </a:p>
          <a:p>
            <a:pPr marL="1200150" lvl="2" indent="-285750">
              <a:lnSpc>
                <a:spcPts val="3007"/>
              </a:lnSpc>
              <a:buFont typeface="Arial" panose="020B0604020202020204" pitchFamily="34" charset="0"/>
              <a:buChar char="•"/>
            </a:pPr>
            <a:r>
              <a:rPr lang="es-ES" sz="2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s-E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stamos preparados para superar desafíos y maximizar oportunidades.</a:t>
            </a:r>
            <a:endParaRPr lang="ca-E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3007"/>
              </a:lnSpc>
              <a:buNone/>
            </a:pPr>
            <a:endParaRPr lang="en-US" sz="1880" dirty="0"/>
          </a:p>
        </p:txBody>
      </p:sp>
      <p:pic>
        <p:nvPicPr>
          <p:cNvPr id="20" name="Imatge 19">
            <a:extLst>
              <a:ext uri="{FF2B5EF4-FFF2-40B4-BE49-F238E27FC236}">
                <a16:creationId xmlns:a16="http://schemas.microsoft.com/office/drawing/2014/main" id="{59A90783-A0FC-888E-4D68-C6E50C4588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-25207"/>
            <a:ext cx="14630400" cy="30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2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ci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366</Words>
  <Application>Microsoft Office PowerPoint</Application>
  <PresentationFormat>Personalitzat</PresentationFormat>
  <Paragraphs>85</Paragraphs>
  <Slides>10</Slides>
  <Notes>10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Instrument Sans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oriol Calblay</cp:lastModifiedBy>
  <cp:revision>2</cp:revision>
  <dcterms:created xsi:type="dcterms:W3CDTF">2024-06-24T15:21:49Z</dcterms:created>
  <dcterms:modified xsi:type="dcterms:W3CDTF">2024-06-26T18:04:08Z</dcterms:modified>
</cp:coreProperties>
</file>